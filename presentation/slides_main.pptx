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10287000" cx="18288000"/>
  <p:notesSz cx="10287000" cy="18288000"/>
  <p:embeddedFontLst>
    <p:embeddedFont>
      <p:font typeface="IBM Plex Sans"/>
      <p:regular r:id="rId20"/>
      <p:bold r:id="rId21"/>
      <p:italic r:id="rId22"/>
      <p:boldItalic r:id="rId23"/>
    </p:embeddedFont>
    <p:embeddedFont>
      <p:font typeface="Montserrat SemiBold"/>
      <p:regular r:id="rId24"/>
      <p:bold r:id="rId25"/>
      <p:italic r:id="rId26"/>
      <p:boldItalic r:id="rId27"/>
    </p:embeddedFont>
    <p:embeddedFont>
      <p:font typeface="Montserrat"/>
      <p:bold r:id="rId28"/>
      <p:boldItalic r:id="rId29"/>
    </p:embeddedFont>
    <p:embeddedFont>
      <p:font typeface="Montserrat Medium"/>
      <p:regular r:id="rId30"/>
      <p:bold r:id="rId31"/>
      <p:italic r:id="rId32"/>
      <p:boldItalic r:id="rId33"/>
    </p:embeddedFont>
    <p:embeddedFont>
      <p:font typeface="IBM Plex Sans Medium"/>
      <p:regular r:id="rId34"/>
      <p:bold r:id="rId35"/>
      <p:italic r:id="rId36"/>
      <p:boldItalic r:id="rId37"/>
    </p:embeddedFont>
    <p:embeddedFont>
      <p:font typeface="IBM Plex Mono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DCD8CC6-605B-463A-97F4-F1FC5EB6F047}">
  <a:tblStyle styleId="{9DCD8CC6-605B-463A-97F4-F1FC5EB6F04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BMPlexMono-italic.fntdata"/><Relationship Id="rId20" Type="http://schemas.openxmlformats.org/officeDocument/2006/relationships/font" Target="fonts/IBMPlexSans-regular.fntdata"/><Relationship Id="rId41" Type="http://schemas.openxmlformats.org/officeDocument/2006/relationships/font" Target="fonts/IBMPlexMono-boldItalic.fntdata"/><Relationship Id="rId22" Type="http://schemas.openxmlformats.org/officeDocument/2006/relationships/font" Target="fonts/IBMPlexSans-italic.fntdata"/><Relationship Id="rId21" Type="http://schemas.openxmlformats.org/officeDocument/2006/relationships/font" Target="fonts/IBMPlexSans-bold.fntdata"/><Relationship Id="rId24" Type="http://schemas.openxmlformats.org/officeDocument/2006/relationships/font" Target="fonts/MontserratSemiBold-regular.fntdata"/><Relationship Id="rId23" Type="http://schemas.openxmlformats.org/officeDocument/2006/relationships/font" Target="fonts/IBMPlexSans-bold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ontserratSemiBold-italic.fntdata"/><Relationship Id="rId25" Type="http://schemas.openxmlformats.org/officeDocument/2006/relationships/font" Target="fonts/MontserratSemiBold-bold.fntdata"/><Relationship Id="rId28" Type="http://schemas.openxmlformats.org/officeDocument/2006/relationships/font" Target="fonts/Montserrat-bold.fntdata"/><Relationship Id="rId27" Type="http://schemas.openxmlformats.org/officeDocument/2006/relationships/font" Target="fonts/MontserratSemiBold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ontserra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ontserratMedium-bold.fntdata"/><Relationship Id="rId30" Type="http://schemas.openxmlformats.org/officeDocument/2006/relationships/font" Target="fonts/MontserratMedium-regular.fntdata"/><Relationship Id="rId11" Type="http://schemas.openxmlformats.org/officeDocument/2006/relationships/slide" Target="slides/slide6.xml"/><Relationship Id="rId33" Type="http://schemas.openxmlformats.org/officeDocument/2006/relationships/font" Target="fonts/MontserratMedium-boldItalic.fntdata"/><Relationship Id="rId10" Type="http://schemas.openxmlformats.org/officeDocument/2006/relationships/slide" Target="slides/slide5.xml"/><Relationship Id="rId32" Type="http://schemas.openxmlformats.org/officeDocument/2006/relationships/font" Target="fonts/MontserratMedium-italic.fntdata"/><Relationship Id="rId13" Type="http://schemas.openxmlformats.org/officeDocument/2006/relationships/slide" Target="slides/slide8.xml"/><Relationship Id="rId35" Type="http://schemas.openxmlformats.org/officeDocument/2006/relationships/font" Target="fonts/IBMPlexSansMedium-bold.fntdata"/><Relationship Id="rId12" Type="http://schemas.openxmlformats.org/officeDocument/2006/relationships/slide" Target="slides/slide7.xml"/><Relationship Id="rId34" Type="http://schemas.openxmlformats.org/officeDocument/2006/relationships/font" Target="fonts/IBMPlexSansMedium-regular.fntdata"/><Relationship Id="rId15" Type="http://schemas.openxmlformats.org/officeDocument/2006/relationships/slide" Target="slides/slide10.xml"/><Relationship Id="rId37" Type="http://schemas.openxmlformats.org/officeDocument/2006/relationships/font" Target="fonts/IBMPlexSansMedium-boldItalic.fntdata"/><Relationship Id="rId14" Type="http://schemas.openxmlformats.org/officeDocument/2006/relationships/slide" Target="slides/slide9.xml"/><Relationship Id="rId36" Type="http://schemas.openxmlformats.org/officeDocument/2006/relationships/font" Target="fonts/IBMPlexSansMedium-italic.fntdata"/><Relationship Id="rId17" Type="http://schemas.openxmlformats.org/officeDocument/2006/relationships/slide" Target="slides/slide12.xml"/><Relationship Id="rId39" Type="http://schemas.openxmlformats.org/officeDocument/2006/relationships/font" Target="fonts/IBMPlexMono-bold.fntdata"/><Relationship Id="rId16" Type="http://schemas.openxmlformats.org/officeDocument/2006/relationships/slide" Target="slides/slide11.xml"/><Relationship Id="rId38" Type="http://schemas.openxmlformats.org/officeDocument/2006/relationships/font" Target="fonts/IBMPlexMono-regular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" name="Google Shape;9;p1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2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7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8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1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2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2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ec59441aad_1_25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g3ec59441aad_1_25:notes"/>
          <p:cNvSpPr/>
          <p:nvPr>
            <p:ph idx="2" type="sldImg"/>
          </p:nvPr>
        </p:nvSpPr>
        <p:spPr>
          <a:xfrm>
            <a:off x="1714825" y="1371600"/>
            <a:ext cx="6858300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0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0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3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3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5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5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6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6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0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0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1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21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Relationship Id="rId8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Relationship Id="rId8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52A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76750" y="0"/>
            <a:ext cx="1381125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" name="Google Shape;1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371475"/>
            <a:ext cx="18288000" cy="9648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6625" y="4953000"/>
            <a:ext cx="4695825" cy="468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4" name="Google Shape;14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678025" y="962025"/>
            <a:ext cx="3609975" cy="5114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5" name="Google Shape;15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5287625" y="3724275"/>
            <a:ext cx="3000375" cy="637222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/>
          <p:nvPr/>
        </p:nvSpPr>
        <p:spPr>
          <a:xfrm>
            <a:off x="1057275" y="6900000"/>
            <a:ext cx="9000000" cy="2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40BA21"/>
              </a:buClr>
              <a:buSzPts val="3400"/>
              <a:buFont typeface="Montserrat"/>
              <a:buNone/>
            </a:pPr>
            <a:r>
              <a:rPr b="1" i="0" lang="en-US" sz="3400" u="none" cap="none" strike="noStrike">
                <a:solidFill>
                  <a:srgbClr val="40BA21"/>
                </a:solidFill>
                <a:latin typeface="Montserrat"/>
                <a:ea typeface="Montserrat"/>
                <a:cs typeface="Montserrat"/>
                <a:sym typeface="Montserrat"/>
              </a:rPr>
              <a:t>Research and Adaptation</a:t>
            </a:r>
            <a:br>
              <a:rPr b="1" i="0" lang="en-US" sz="3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3400" u="none" cap="none" strike="noStrike">
                <a:solidFill>
                  <a:srgbClr val="40BA21"/>
                </a:solidFill>
                <a:latin typeface="Montserrat"/>
                <a:ea typeface="Montserrat"/>
                <a:cs typeface="Montserrat"/>
                <a:sym typeface="Montserrat"/>
              </a:rPr>
              <a:t>of Components from the</a:t>
            </a:r>
            <a:br>
              <a:rPr b="1" i="0" lang="en-US" sz="3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3400" u="none" cap="none" strike="noStrike">
                <a:solidFill>
                  <a:srgbClr val="40BA21"/>
                </a:solidFill>
                <a:latin typeface="Montserrat"/>
                <a:ea typeface="Montserrat"/>
                <a:cs typeface="Montserrat"/>
                <a:sym typeface="Montserrat"/>
              </a:rPr>
              <a:t>Persistent OS Phantom for Genode</a:t>
            </a:r>
            <a:endParaRPr b="1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1123950" y="4650000"/>
            <a:ext cx="9000000" cy="2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IBM Plex Sans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Student: Mikhail Voronin</a:t>
            </a:r>
            <a:b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Supervisor: Artem Burmyakov</a:t>
            </a:r>
            <a:b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Consultant: Alexander Tormasov</a:t>
            </a:r>
            <a:b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6FE34B"/>
                </a:solidFill>
                <a:latin typeface="IBM Plex Mono"/>
                <a:ea typeface="IBM Plex Mono"/>
                <a:cs typeface="IBM Plex Mono"/>
                <a:sym typeface="IBM Plex Mono"/>
              </a:rPr>
              <a:t>June 2026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" name="Google Shape;18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137156" y="1137191"/>
            <a:ext cx="3027200" cy="8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Relevance &amp; Obje</a:t>
            </a: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ctive</a:t>
            </a:r>
            <a:endParaRPr/>
          </a:p>
        </p:txBody>
      </p:sp>
      <p:sp>
        <p:nvSpPr>
          <p:cNvPr id="24" name="Google Shape;24;p4"/>
          <p:cNvSpPr/>
          <p:nvPr/>
        </p:nvSpPr>
        <p:spPr>
          <a:xfrm>
            <a:off x="1095375" y="2600000"/>
            <a:ext cx="9300000" cy="30000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20000" lIns="600000" spcFirstLastPara="1" rIns="600000" wrap="square" tIns="4200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1A1A1A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Why it matters</a:t>
            </a:r>
            <a:endParaRPr b="0" i="0" sz="2000" u="none" cap="none" strike="noStrike">
              <a:solidFill>
                <a:srgbClr val="1A1A1A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indent="-400000" lvl="0" marL="40000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Conception 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eveloped in the 1970s</a:t>
            </a:r>
            <a:endParaRPr b="0" i="0" sz="200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The hardware and network balances have changed</a:t>
            </a:r>
            <a:endParaRPr b="0" i="0" sz="200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Persistent data storage must be protected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IBM Plex Sans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Snapshot security in Phantom was not considered 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10800000" y="2600000"/>
            <a:ext cx="6350000" cy="300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20000" lIns="600000" spcFirstLastPara="1" rIns="600000" wrap="square" tIns="42000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 SemiBold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Why now?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It is necessary to examine the relevance of persistence concepts in the current environment</a:t>
            </a:r>
            <a:endParaRPr b="0" i="0" sz="1800" u="none" cap="none" strike="noStrike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4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2/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1095375" y="6600000"/>
            <a:ext cx="9300000" cy="28101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20000" lIns="600000" spcFirstLastPara="1" rIns="600000" wrap="square" tIns="42000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1A1A1A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Goals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Analyze computer usage scenarios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Develop security assurance component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Experimentally check protection correctness</a:t>
            </a:r>
            <a:endParaRPr b="0" i="0" sz="190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10800100" y="6600025"/>
            <a:ext cx="6350100" cy="28101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55000" lIns="650000" spcFirstLastPara="1" rIns="650000" wrap="square" tIns="4550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 SemiBold"/>
              <a:buNone/>
            </a:pPr>
            <a:r>
              <a:rPr b="1" lang="en-US" sz="220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Current projects</a:t>
            </a:r>
            <a:endParaRPr sz="1200"/>
          </a:p>
          <a:p>
            <a:pPr indent="0" lvl="0" marL="0" marR="0" rtl="0" algn="l">
              <a:lnSpc>
                <a:spcPct val="131818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IBM Plex Sans Medium"/>
              <a:buNone/>
            </a:pPr>
            <a:r>
              <a:rPr lang="en-US" sz="1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Different projects are implementing the concept</a:t>
            </a:r>
            <a:endParaRPr sz="1800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26315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PhantomOS is our choice. The issue we solve is that snapshots are stored in plaintext</a:t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P</a:t>
            </a: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ersistence</a:t>
            </a:r>
            <a:endParaRPr/>
          </a:p>
        </p:txBody>
      </p:sp>
      <p:sp>
        <p:nvSpPr>
          <p:cNvPr id="35" name="Google Shape;35;p5"/>
          <p:cNvSpPr/>
          <p:nvPr/>
        </p:nvSpPr>
        <p:spPr>
          <a:xfrm>
            <a:off x="1095375" y="1850000"/>
            <a:ext cx="16050000" cy="115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85000" lIns="550000" spcFirstLastPara="1" rIns="550000" wrap="square" tIns="385000">
            <a:noAutofit/>
          </a:bodyPr>
          <a:lstStyle/>
          <a:p>
            <a:pPr indent="0" lvl="0" marL="0" marR="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Montserrat SemiBold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Persistence</a:t>
            </a:r>
            <a:r>
              <a:rPr b="0" i="0" lang="en-US" sz="21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 is the period of time during which an object is usable</a:t>
            </a:r>
            <a:r>
              <a:rPr b="0" baseline="30000" i="0" lang="en-US" sz="21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b="1" baseline="30000" i="0" sz="11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1095375" y="3250000"/>
            <a:ext cx="7700100" cy="2090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Two-level store (today’s dominant model, non-persistent)</a:t>
            </a:r>
            <a:endParaRPr/>
          </a:p>
          <a:p>
            <a:pPr indent="-380000" lvl="0" marL="380000" marR="0" rtl="0" algn="l">
              <a:lnSpc>
                <a:spcPct val="125714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Data is either active (RAM) or stored (disk)</a:t>
            </a:r>
            <a:endParaRPr/>
          </a:p>
          <a:p>
            <a:pPr indent="-380000" lvl="0" marL="380000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Programmer manually moves data between levels</a:t>
            </a:r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9395375" y="3250000"/>
            <a:ext cx="7754700" cy="2090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Consequences</a:t>
            </a:r>
            <a:endParaRPr>
              <a:solidFill>
                <a:schemeClr val="dk1"/>
              </a:solidFill>
            </a:endParaRPr>
          </a:p>
          <a:p>
            <a:pPr indent="-380000" lvl="0" marL="380000" marR="0" rtl="0" algn="l">
              <a:lnSpc>
                <a:spcPct val="125714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Data loss</a:t>
            </a:r>
            <a:endParaRPr/>
          </a:p>
          <a:p>
            <a:pPr indent="-380000" lvl="0" marL="380000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I/O boilerplate (≈30% of code)</a:t>
            </a:r>
            <a:endParaRPr/>
          </a:p>
          <a:p>
            <a:pPr indent="-380000" lvl="0" marL="380000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Frequent initialization and configuration</a:t>
            </a:r>
            <a:endParaRPr/>
          </a:p>
        </p:txBody>
      </p:sp>
      <p:sp>
        <p:nvSpPr>
          <p:cNvPr id="38" name="Google Shape;38;p5"/>
          <p:cNvSpPr/>
          <p:nvPr/>
        </p:nvSpPr>
        <p:spPr>
          <a:xfrm>
            <a:off x="1095375" y="9470000"/>
            <a:ext cx="135000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</a:t>
            </a: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M. P. Atkinson, P. J. Bailey, K. J. Chisholm, W. P. Cockshott, R. Morrison. “PS-algol: A language for persistent programming”, 1983</a:t>
            </a:r>
            <a:endParaRPr b="0" i="0" sz="1600" u="none" cap="none" strike="noStrike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R. Morrison, M. P. Atkinson. “Persistent Languages and Architectures”, 1990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0" i="0" lang="en-US" sz="11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.</a:t>
            </a:r>
            <a:endParaRPr/>
          </a:p>
        </p:txBody>
      </p:sp>
      <p:pic>
        <p:nvPicPr>
          <p:cNvPr id="39" name="Google Shape;3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5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41" name="Google Shape;41;p5"/>
          <p:cNvSpPr/>
          <p:nvPr/>
        </p:nvSpPr>
        <p:spPr>
          <a:xfrm>
            <a:off x="1095375" y="5590700"/>
            <a:ext cx="7700100" cy="3140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Montserrat SemiBold"/>
              <a:buNone/>
            </a:pPr>
            <a:r>
              <a:rPr b="1" i="0" lang="en-US" sz="200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Alternative: the environment manages persistence</a:t>
            </a:r>
            <a:endParaRPr>
              <a:solidFill>
                <a:srgbClr val="2E8B16"/>
              </a:solidFill>
            </a:endParaRPr>
          </a:p>
          <a:p>
            <a:pPr indent="0" lvl="0" marL="0" marR="0" rtl="0" algn="l">
              <a:lnSpc>
                <a:spcPct val="126315"/>
              </a:lnSpc>
              <a:spcBef>
                <a:spcPts val="450"/>
              </a:spcBef>
              <a:spcAft>
                <a:spcPts val="0"/>
              </a:spcAft>
              <a:buClr>
                <a:srgbClr val="2E8B16"/>
              </a:buClr>
              <a:buSzPts val="1900"/>
              <a:buFont typeface="Montserrat SemiBold"/>
              <a:buNone/>
            </a:pPr>
            <a:r>
              <a:rPr b="1" lang="en-US" sz="19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Orthogonal Persistence </a:t>
            </a:r>
            <a:r>
              <a:rPr b="1" i="0" lang="en-US" sz="1900" u="none" cap="none" strike="noStrik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Principles</a:t>
            </a:r>
            <a:r>
              <a:rPr b="1" baseline="30000" i="0" lang="en-US" sz="1900" u="none" cap="none" strike="noStrik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endParaRPr b="1" baseline="30000" i="0" sz="1100" u="none" cap="none" strike="noStrik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6825" lvl="0" marL="400000" marR="0" rtl="0" algn="l">
              <a:lnSpc>
                <a:spcPct val="124324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AutoNum type="arabicPeriod"/>
            </a:pPr>
            <a:r>
              <a:rPr b="0" i="0" lang="en-US" sz="18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Independence</a:t>
            </a:r>
            <a:endParaRPr sz="1800"/>
          </a:p>
          <a:p>
            <a:pPr indent="-396825" lvl="0" marL="400000" marR="0" rtl="0" algn="l">
              <a:lnSpc>
                <a:spcPct val="124324"/>
              </a:lnSpc>
              <a:spcBef>
                <a:spcPts val="18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AutoNum type="arabicPeriod"/>
            </a:pPr>
            <a:r>
              <a:rPr b="0" i="0" lang="en-US" sz="18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Data type orthogonality</a:t>
            </a:r>
            <a:endParaRPr sz="1800"/>
          </a:p>
          <a:p>
            <a:pPr indent="-396825" lvl="0" marL="400000" marR="0" rtl="0" algn="l">
              <a:lnSpc>
                <a:spcPct val="124324"/>
              </a:lnSpc>
              <a:spcBef>
                <a:spcPts val="18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AutoNum type="arabicPeriod"/>
            </a:pPr>
            <a:r>
              <a:rPr b="0" i="0" lang="en-US" sz="18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Identification</a:t>
            </a:r>
            <a:endParaRPr sz="1800"/>
          </a:p>
        </p:txBody>
      </p:sp>
      <p:sp>
        <p:nvSpPr>
          <p:cNvPr id="42" name="Google Shape;42;p5"/>
          <p:cNvSpPr/>
          <p:nvPr/>
        </p:nvSpPr>
        <p:spPr>
          <a:xfrm>
            <a:off x="9395375" y="5590650"/>
            <a:ext cx="7754700" cy="3140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rtl="0" algn="l">
              <a:lnSpc>
                <a:spcPct val="126087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Montserrat SemiBold"/>
              <a:buNone/>
            </a:pP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Result</a:t>
            </a:r>
            <a:endParaRPr sz="1100">
              <a:solidFill>
                <a:srgbClr val="2E8B16"/>
              </a:solidFill>
            </a:endParaRPr>
          </a:p>
          <a:p>
            <a:pPr indent="0" lvl="0" marL="0" rtl="0" algn="l">
              <a:lnSpc>
                <a:spcPct val="131707"/>
              </a:lnSpc>
              <a:spcBef>
                <a:spcPts val="450"/>
              </a:spcBef>
              <a:spcAft>
                <a:spcPts val="0"/>
              </a:spcAft>
              <a:buClr>
                <a:schemeClr val="lt1"/>
              </a:buClr>
              <a:buSzPts val="2050"/>
              <a:buFont typeface="IBM Plex Sans Medium"/>
              <a:buNone/>
            </a:pPr>
            <a:r>
              <a:rPr lang="en-US" sz="1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No two-level store drawbacks, and improved disk bandwidth utilization</a:t>
            </a:r>
            <a:endParaRPr sz="18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6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PhantomOS &amp; </a:t>
            </a: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Genode</a:t>
            </a:r>
            <a:endParaRPr/>
          </a:p>
        </p:txBody>
      </p:sp>
      <p:sp>
        <p:nvSpPr>
          <p:cNvPr id="48" name="Google Shape;48;p6"/>
          <p:cNvSpPr/>
          <p:nvPr/>
        </p:nvSpPr>
        <p:spPr>
          <a:xfrm>
            <a:off x="1095375" y="6105385"/>
            <a:ext cx="8300100" cy="26385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55000" lIns="650000" spcFirstLastPara="1" rIns="650000" wrap="square" tIns="455000">
            <a:noAutofit/>
          </a:bodyPr>
          <a:lstStyle/>
          <a:p>
            <a:pPr indent="0" lvl="0" marL="0" marR="0" rtl="0" algn="l">
              <a:lnSpc>
                <a:spcPct val="1318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IBM Plex Sans Medium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PhantomOS ported to the</a:t>
            </a:r>
            <a:r>
              <a:rPr b="0" i="0" lang="en-US" sz="22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</a:t>
            </a:r>
            <a:r>
              <a:rPr b="1" i="0" lang="en-US" sz="2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Genode OS C++ framework</a:t>
            </a:r>
            <a:r>
              <a:rPr baseline="30000" i="0" lang="en-US" sz="2100" u="none" cap="none" strike="noStrike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  <a:endParaRPr b="1" baseline="30000" i="0" sz="10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9800000" y="6105375"/>
            <a:ext cx="7350000" cy="26385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06000" lIns="580000" spcFirstLastPara="1" rIns="580000" wrap="square" tIns="406000">
            <a:noAutofit/>
          </a:bodyPr>
          <a:lstStyle/>
          <a:p>
            <a:pPr indent="0" lvl="0" marL="0" marR="0" rtl="0" algn="l">
              <a:lnSpc>
                <a:spcPct val="128205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1950"/>
              <a:buFont typeface="Montserrat SemiBold"/>
              <a:buNone/>
            </a:pPr>
            <a:r>
              <a:rPr b="1" i="0" lang="en-US" sz="19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Why Genode</a:t>
            </a:r>
            <a:endParaRPr/>
          </a:p>
          <a:p>
            <a:pPr indent="-400000" lvl="0" marL="400000" marR="0" rtl="0" algn="l">
              <a:lnSpc>
                <a:spcPct val="127027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Arial"/>
              <a:buChar char="•"/>
            </a:pP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Proven microkernels: NOVA, seL4, Fiasco.OC</a:t>
            </a:r>
            <a:endParaRPr/>
          </a:p>
          <a:p>
            <a:pPr indent="-400000" lvl="0" marL="400000" marR="0" rtl="0" algn="l">
              <a:lnSpc>
                <a:spcPct val="127027"/>
              </a:lnSpc>
              <a:spcBef>
                <a:spcPts val="26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Arial"/>
              <a:buChar char="•"/>
            </a:pP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Capability-based security</a:t>
            </a:r>
            <a:endParaRPr/>
          </a:p>
          <a:p>
            <a:pPr indent="-400000" lvl="0" marL="400000" marR="0" rtl="0" algn="l">
              <a:lnSpc>
                <a:spcPct val="127027"/>
              </a:lnSpc>
              <a:spcBef>
                <a:spcPts val="26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Arial"/>
              <a:buChar char="•"/>
            </a:pP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Minimal trusted computing base (TCB)</a:t>
            </a:r>
            <a:endParaRPr b="0" i="0" sz="185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marR="0" rtl="0" algn="l">
              <a:lnSpc>
                <a:spcPct val="127027"/>
              </a:lnSpc>
              <a:spcBef>
                <a:spcPts val="26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IBM Plex Sans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Support modern hardware</a:t>
            </a:r>
            <a:endParaRPr sz="185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0" name="Google Shape;50;p6"/>
          <p:cNvSpPr/>
          <p:nvPr/>
        </p:nvSpPr>
        <p:spPr>
          <a:xfrm>
            <a:off x="1095375" y="9171875"/>
            <a:ext cx="13500000" cy="778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 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http://phantomos.org/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 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D. Zavalishin. PhantomOS, 2010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3</a:t>
            </a: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https://genode.org/</a:t>
            </a:r>
            <a:endParaRPr/>
          </a:p>
        </p:txBody>
      </p:sp>
      <p:pic>
        <p:nvPicPr>
          <p:cNvPr id="51" name="Google Shape;5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6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53" name="Google Shape;53;p6"/>
          <p:cNvSpPr/>
          <p:nvPr/>
        </p:nvSpPr>
        <p:spPr>
          <a:xfrm>
            <a:off x="1095375" y="1942600"/>
            <a:ext cx="8300100" cy="39537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55000" lIns="650000" spcFirstLastPara="1" rIns="650000" wrap="square" tIns="455000">
            <a:noAutofit/>
          </a:bodyPr>
          <a:lstStyle/>
          <a:p>
            <a:pPr indent="0" lvl="0" marL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 SemiBold"/>
              <a:buNone/>
            </a:pPr>
            <a:r>
              <a:rPr b="1" lang="en-US" sz="21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PhantomOS</a:t>
            </a:r>
            <a:r>
              <a:rPr b="1" baseline="30000" lang="en-US" sz="21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lang="en-US" sz="20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 is a non-Unix-like OS implementing orthogonal persistence</a:t>
            </a:r>
            <a:r>
              <a:rPr baseline="30000" lang="en-US" sz="20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b="1" baseline="30000" sz="1100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318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IBM Plex Sans Medium"/>
              <a:buNone/>
            </a:pPr>
            <a:r>
              <a:t/>
            </a:r>
            <a:endParaRPr sz="2200">
              <a:solidFill>
                <a:srgbClr val="FFFFFF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9800000" y="1942610"/>
            <a:ext cx="7350000" cy="3953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06000" lIns="580000" spcFirstLastPara="1" rIns="580000" wrap="square" tIns="406000">
            <a:noAutofit/>
          </a:bodyPr>
          <a:lstStyle/>
          <a:p>
            <a:pPr indent="0" lvl="0" marL="0" rtl="0" algn="l">
              <a:lnSpc>
                <a:spcPct val="1282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5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PhantomOS features</a:t>
            </a:r>
            <a:endParaRPr>
              <a:solidFill>
                <a:schemeClr val="dk1"/>
              </a:solidFill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Phantom Virtual Machine (PVM): bytecode VM of a persistent language</a:t>
            </a:r>
            <a:endParaRPr sz="185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Simplified POSIX layer (non-persistent)</a:t>
            </a:r>
            <a:endParaRPr>
              <a:solidFill>
                <a:schemeClr val="dk1"/>
              </a:solidFill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24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Periodical snapshots via </a:t>
            </a:r>
            <a:r>
              <a:rPr b="1"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Copy-on-Write</a:t>
            </a: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(implementation of persistence)</a:t>
            </a:r>
            <a:endParaRPr sz="185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24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Changed pages written to disk (incremental)</a:t>
            </a:r>
            <a:endParaRPr>
              <a:solidFill>
                <a:schemeClr val="dk1"/>
              </a:solidFill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24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Programs temporarily suspended during snapshot preparation</a:t>
            </a:r>
            <a:endParaRPr b="1" sz="1950">
              <a:solidFill>
                <a:srgbClr val="2E8B16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7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Snapshot mechanism &amp; </a:t>
            </a: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Problem Statement</a:t>
            </a:r>
            <a:endParaRPr b="1" sz="2800">
              <a:solidFill>
                <a:srgbClr val="1A1A1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" name="Google Shape;60;p7"/>
          <p:cNvSpPr/>
          <p:nvPr/>
        </p:nvSpPr>
        <p:spPr>
          <a:xfrm>
            <a:off x="1095375" y="1850000"/>
            <a:ext cx="16050000" cy="115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85000" lIns="550000" spcFirstLastPara="1" rIns="550000" wrap="square" tIns="38500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Montserrat SemiBold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Snapper</a:t>
            </a:r>
            <a:r>
              <a:rPr b="1" baseline="30000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b="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 is a file-system-based transactional snapshot mechanism</a:t>
            </a:r>
            <a:r>
              <a:rPr b="0" baseline="3000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b="1" baseline="30000" i="0" sz="11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61" name="Google Shape;61;p7"/>
          <p:cNvSpPr/>
          <p:nvPr/>
        </p:nvSpPr>
        <p:spPr>
          <a:xfrm>
            <a:off x="1095375" y="3250000"/>
            <a:ext cx="7700100" cy="25905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Previous approach: “superblock”</a:t>
            </a:r>
            <a:endParaRPr/>
          </a:p>
          <a:p>
            <a:pPr indent="-376825" lvl="0" marL="380000" marR="0" rtl="0" algn="l">
              <a:lnSpc>
                <a:spcPct val="125714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Snapshots stored as monolithic objects</a:t>
            </a:r>
            <a:endParaRPr sz="1700"/>
          </a:p>
          <a:p>
            <a:pPr indent="-376825" lvl="0" marL="380000" marR="0" rtl="0" algn="l">
              <a:lnSpc>
                <a:spcPct val="125714"/>
              </a:lnSpc>
              <a:spcBef>
                <a:spcPts val="22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Fast, but no fault tolerance and no storage recovery</a:t>
            </a:r>
            <a:endParaRPr sz="1700"/>
          </a:p>
        </p:txBody>
      </p:sp>
      <p:sp>
        <p:nvSpPr>
          <p:cNvPr id="62" name="Google Shape;62;p7"/>
          <p:cNvSpPr/>
          <p:nvPr/>
        </p:nvSpPr>
        <p:spPr>
          <a:xfrm>
            <a:off x="9390675" y="3250000"/>
            <a:ext cx="7754700" cy="25905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Snapper 2.0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Configurable number of generations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1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Unchanged pages linked, not copied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1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ext4 + fsck for crash recovery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1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Integrity checks (per-file hashes)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1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Configurable redundancy policy</a:t>
            </a:r>
            <a:endParaRPr/>
          </a:p>
        </p:txBody>
      </p:sp>
      <p:sp>
        <p:nvSpPr>
          <p:cNvPr id="63" name="Google Shape;63;p7"/>
          <p:cNvSpPr/>
          <p:nvPr/>
        </p:nvSpPr>
        <p:spPr>
          <a:xfrm>
            <a:off x="1095375" y="9110000"/>
            <a:ext cx="13500000" cy="84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 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https://github.com/rumenmitov/snapper</a:t>
            </a:r>
            <a:endParaRPr/>
          </a:p>
          <a:p>
            <a:pPr indent="0" lvl="0" marL="0" marR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 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R. Mitov. “Snapper (v2): A PhantomOS snapshot mechanism”, FOSDEM 2026.</a:t>
            </a:r>
            <a:endParaRPr/>
          </a:p>
        </p:txBody>
      </p:sp>
      <p:pic>
        <p:nvPicPr>
          <p:cNvPr id="64" name="Google Shape;6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7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5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66" name="Google Shape;66;p7"/>
          <p:cNvSpPr/>
          <p:nvPr/>
        </p:nvSpPr>
        <p:spPr>
          <a:xfrm>
            <a:off x="1095375" y="6090500"/>
            <a:ext cx="7700100" cy="29040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Problem</a:t>
            </a:r>
            <a:endParaRPr sz="1850"/>
          </a:p>
          <a:p>
            <a:pPr indent="0" lvl="0" marL="0" marR="0" rtl="0" algn="l">
              <a:lnSpc>
                <a:spcPct val="125714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Snapshots contain </a:t>
            </a:r>
            <a:r>
              <a:rPr b="1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sensitive data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which is </a:t>
            </a:r>
            <a:r>
              <a:rPr b="1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stored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on the disk in </a:t>
            </a:r>
            <a:r>
              <a:rPr b="1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plaintext</a:t>
            </a:r>
            <a:endParaRPr b="1" sz="17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lnSpc>
                <a:spcPct val="126315"/>
              </a:lnSpc>
              <a:spcBef>
                <a:spcPts val="42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i="0" lang="en-US" sz="17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Consequence</a:t>
            </a:r>
            <a:endParaRPr b="1" i="0" sz="1700" u="none" cap="none" strike="noStrike">
              <a:solidFill>
                <a:srgbClr val="1A1A1A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25714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Physical access attacks</a:t>
            </a:r>
            <a:r>
              <a:rPr b="1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(</a:t>
            </a: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Reproduce the machine state)</a:t>
            </a:r>
            <a:endParaRPr sz="1700"/>
          </a:p>
        </p:txBody>
      </p:sp>
      <p:sp>
        <p:nvSpPr>
          <p:cNvPr id="67" name="Google Shape;67;p7"/>
          <p:cNvSpPr/>
          <p:nvPr/>
        </p:nvSpPr>
        <p:spPr>
          <a:xfrm>
            <a:off x="9390675" y="6090600"/>
            <a:ext cx="7754700" cy="2904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t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Challenges</a:t>
            </a:r>
            <a:endParaRPr sz="1850"/>
          </a:p>
          <a:p>
            <a:pPr indent="-376826" lvl="0" marL="380001" marR="0" rtl="0" algn="l">
              <a:lnSpc>
                <a:spcPct val="125714"/>
              </a:lnSpc>
              <a:spcBef>
                <a:spcPts val="2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No prior research </a:t>
            </a: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on this for PhantomOS</a:t>
            </a:r>
            <a:endParaRPr sz="1700"/>
          </a:p>
          <a:p>
            <a:pPr indent="-376826" lvl="0" marL="380001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No ready-made solution </a:t>
            </a: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exists in Genode</a:t>
            </a:r>
            <a:endParaRPr sz="1700"/>
          </a:p>
          <a:p>
            <a:pPr indent="0" lvl="0" marL="0" marR="0" rtl="0" algn="l">
              <a:lnSpc>
                <a:spcPct val="126315"/>
              </a:lnSpc>
              <a:spcBef>
                <a:spcPts val="52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Solution</a:t>
            </a:r>
            <a:endParaRPr sz="1850"/>
          </a:p>
          <a:p>
            <a:pPr indent="0" lvl="0" marL="0" marR="0" rtl="0" algn="l">
              <a:lnSpc>
                <a:spcPct val="129729"/>
              </a:lnSpc>
              <a:spcBef>
                <a:spcPts val="28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IBM Plex Sans Medium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Implement a mechanism for the secure storage of snapshots.</a:t>
            </a:r>
            <a:endParaRPr sz="17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8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Environment description: Usage scenarios (1/2)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t/>
            </a:r>
            <a:endParaRPr b="1" sz="2800">
              <a:solidFill>
                <a:srgbClr val="1A1A1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3" name="Google Shape;7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8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6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pic>
        <p:nvPicPr>
          <p:cNvPr id="75" name="Google Shape;75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11962" y="1500500"/>
            <a:ext cx="11464087" cy="878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9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Environment description: Usage scenarios</a:t>
            </a: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 (2/2)</a:t>
            </a:r>
            <a:endParaRPr/>
          </a:p>
        </p:txBody>
      </p:sp>
      <p:pic>
        <p:nvPicPr>
          <p:cNvPr id="81" name="Google Shape;8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9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7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pic>
        <p:nvPicPr>
          <p:cNvPr id="83" name="Google Shape;83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1275" y="1778925"/>
            <a:ext cx="11645451" cy="7971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0"/>
          <p:cNvSpPr/>
          <p:nvPr/>
        </p:nvSpPr>
        <p:spPr>
          <a:xfrm>
            <a:off x="1095375" y="900000"/>
            <a:ext cx="12999900" cy="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Environment description: Usage scenarios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t/>
            </a:r>
            <a:endParaRPr b="1" sz="2800">
              <a:solidFill>
                <a:srgbClr val="1A1A1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9" name="Google Shape;89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0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6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pic>
        <p:nvPicPr>
          <p:cNvPr id="91" name="Google Shape;91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17977" y="1599900"/>
            <a:ext cx="9052026" cy="82587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1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Environment &amp; Requirements</a:t>
            </a:r>
            <a:endParaRPr/>
          </a:p>
        </p:txBody>
      </p:sp>
      <p:sp>
        <p:nvSpPr>
          <p:cNvPr id="97" name="Google Shape;97;p11"/>
          <p:cNvSpPr/>
          <p:nvPr/>
        </p:nvSpPr>
        <p:spPr>
          <a:xfrm>
            <a:off x="1095375" y="1850000"/>
            <a:ext cx="16050000" cy="95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Montserrat SemiBold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No unauthorized access to data</a:t>
            </a:r>
            <a:endParaRPr/>
          </a:p>
        </p:txBody>
      </p:sp>
      <p:sp>
        <p:nvSpPr>
          <p:cNvPr id="98" name="Google Shape;98;p11"/>
          <p:cNvSpPr/>
          <p:nvPr/>
        </p:nvSpPr>
        <p:spPr>
          <a:xfrm>
            <a:off x="1095375" y="3050000"/>
            <a:ext cx="9300000" cy="49500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28205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1950"/>
              <a:buFont typeface="Montserrat SemiBold"/>
              <a:buNone/>
            </a:pPr>
            <a:r>
              <a:rPr b="1" lang="en-US" sz="195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Target r</a:t>
            </a:r>
            <a:r>
              <a:rPr b="1" i="0" lang="en-US" sz="19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equirements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32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1.  </a:t>
            </a: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Access control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23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2. 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 stored on an external USB drive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23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3. 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Encryption of snapshots (block-level)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23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4. 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Only encrypted data written to disk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23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5. 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Acceptable performance overhead (≤ 2×)</a:t>
            </a:r>
            <a:endParaRPr/>
          </a:p>
        </p:txBody>
      </p:sp>
      <p:sp>
        <p:nvSpPr>
          <p:cNvPr id="99" name="Google Shape;99;p11"/>
          <p:cNvSpPr/>
          <p:nvPr/>
        </p:nvSpPr>
        <p:spPr>
          <a:xfrm>
            <a:off x="10800000" y="3050000"/>
            <a:ext cx="6350000" cy="495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34000" lIns="620000" spcFirstLastPara="1" rIns="620000" wrap="square" tIns="434000">
            <a:noAutofit/>
          </a:bodyPr>
          <a:lstStyle/>
          <a:p>
            <a:pPr indent="0" lvl="0" marL="0" marR="0" rtl="0" algn="l">
              <a:lnSpc>
                <a:spcPct val="12682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50"/>
              <a:buFont typeface="Montserrat SemiBold"/>
              <a:buNone/>
            </a:pPr>
            <a:r>
              <a:rPr b="1" i="0" lang="en-US" sz="20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USB drive = key + auth factor</a:t>
            </a:r>
            <a:endParaRPr/>
          </a:p>
          <a:p>
            <a:pPr indent="0" lvl="0" marL="0" marR="0" rtl="0" algn="l">
              <a:lnSpc>
                <a:spcPct val="129729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IBM Plex Sans"/>
              <a:buNone/>
            </a:pPr>
            <a:r>
              <a:rPr b="0" i="0" lang="en-US" sz="185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Requirements 1 and 2 combined: the USB drive both contains the key and serves as the authentication factor.</a:t>
            </a:r>
            <a:endParaRPr/>
          </a:p>
        </p:txBody>
      </p:sp>
      <p:pic>
        <p:nvPicPr>
          <p:cNvPr id="100" name="Google Shape;10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1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8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2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Implementation</a:t>
            </a:r>
            <a:endParaRPr/>
          </a:p>
        </p:txBody>
      </p:sp>
      <p:sp>
        <p:nvSpPr>
          <p:cNvPr id="107" name="Google Shape;107;p12"/>
          <p:cNvSpPr/>
          <p:nvPr/>
        </p:nvSpPr>
        <p:spPr>
          <a:xfrm>
            <a:off x="1095375" y="1900000"/>
            <a:ext cx="7700100" cy="3725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Built on file_vault</a:t>
            </a:r>
            <a:r>
              <a:rPr b="1" baseline="30000" i="0" lang="en-US" sz="19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r>
              <a:rPr b="1" i="0" lang="en-US" sz="19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(based on Tresor)</a:t>
            </a:r>
            <a:r>
              <a:rPr b="1" lang="en-US" sz="1900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:</a:t>
            </a:r>
            <a:endParaRPr b="1" i="0" sz="1900" u="none" cap="none" strike="noStrike">
              <a:solidFill>
                <a:srgbClr val="1A1A1A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80000" lvl="0" marL="380000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Tresor: AES on 4K blocks, SHA-256 integrity, CoW atomicity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file_vault: state orchestrator providing a secure FS session</a:t>
            </a:r>
            <a:endParaRPr/>
          </a:p>
        </p:txBody>
      </p:sp>
      <p:sp>
        <p:nvSpPr>
          <p:cNvPr id="108" name="Google Shape;108;p12"/>
          <p:cNvSpPr/>
          <p:nvPr/>
        </p:nvSpPr>
        <p:spPr>
          <a:xfrm>
            <a:off x="9395375" y="1900000"/>
            <a:ext cx="7754700" cy="37257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Implemented se_vault</a:t>
            </a:r>
            <a:r>
              <a:rPr b="1" baseline="30000" i="0" lang="en-US" sz="1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b="1" i="0" lang="en-US" sz="1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 as modified file_vault</a:t>
            </a:r>
            <a:endParaRPr b="1" i="0" sz="19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26315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Changes:</a:t>
            </a:r>
            <a:endParaRPr b="1" i="0" sz="19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66350" lvl="0" marL="360000" marR="0" rtl="0" algn="l">
              <a:lnSpc>
                <a:spcPct val="128125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Headless operation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Passphrase replaced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by USB key file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rump_fs/ext2 replaced by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lwext4/ext4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Added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fsck</a:t>
            </a: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 crash-recovery support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Direct block session (skip image file)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All block sizes standardized to 4K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Graceful shutdown sequence added</a:t>
            </a:r>
            <a:endParaRPr sz="1700"/>
          </a:p>
        </p:txBody>
      </p:sp>
      <p:sp>
        <p:nvSpPr>
          <p:cNvPr id="109" name="Google Shape;109;p12"/>
          <p:cNvSpPr/>
          <p:nvPr/>
        </p:nvSpPr>
        <p:spPr>
          <a:xfrm>
            <a:off x="1095375" y="8499225"/>
            <a:ext cx="13500000" cy="1450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https://github.com/genodelabs/genode/tree/sculpt-25.04/repos/gems/src/app/file_vault</a:t>
            </a:r>
            <a:endParaRPr/>
          </a:p>
          <a:p>
            <a:pPr indent="0" lvl="0" marL="0" marR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https://github.com/VoronM1522/genode/tree/se/repos/gems/src/app/se_vault</a:t>
            </a:r>
            <a:endParaRPr b="0" i="0" sz="1600" u="none" cap="none" strike="noStrike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3</a:t>
            </a: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https://github.com/VoronM1522/genode-wundertuete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4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https://github.com/VoronM1522/phantomuserland-snapper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5 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https://github.com/VoronM1522/snapper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6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https://github.com/VoronM1522/genode/tree/se/repos/os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110" name="Google Shape;110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2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9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112" name="Google Shape;112;p12"/>
          <p:cNvSpPr/>
          <p:nvPr/>
        </p:nvSpPr>
        <p:spPr>
          <a:xfrm>
            <a:off x="1095375" y="5925700"/>
            <a:ext cx="7700100" cy="2393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lang="en-US" sz="1900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Related fixes &amp; Adaptations:</a:t>
            </a:r>
            <a:endParaRPr b="1" i="0" sz="1900" u="none" cap="none" strike="noStrike">
              <a:solidFill>
                <a:srgbClr val="1A1A1A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80001" lvl="0" marL="380001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lwext4</a:t>
            </a:r>
            <a:r>
              <a:rPr baseline="30000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3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(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ftruncate and sync</a:t>
            </a:r>
            <a:r>
              <a:rPr lang="en-US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indent="-380001" lvl="0" marL="380001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isomem</a:t>
            </a:r>
            <a:r>
              <a:rPr baseline="30000"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4</a:t>
            </a: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 (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power-off button callback and graceful shutdown</a:t>
            </a: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)</a:t>
            </a:r>
            <a:endParaRPr sz="17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80001" lvl="0" marL="380001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snapper</a:t>
            </a:r>
            <a:r>
              <a:rPr baseline="30000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5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(client counter and graceful shutdown)</a:t>
            </a:r>
            <a:endParaRPr sz="17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80001" lvl="0" marL="380001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vfs</a:t>
            </a:r>
            <a:r>
              <a:rPr baseline="30000"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6</a:t>
            </a: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 (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client counter, graceful shutdown and clean unmount</a:t>
            </a: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)</a:t>
            </a:r>
            <a:endParaRPr/>
          </a:p>
        </p:txBody>
      </p:sp>
      <p:sp>
        <p:nvSpPr>
          <p:cNvPr id="113" name="Google Shape;113;p12"/>
          <p:cNvSpPr/>
          <p:nvPr/>
        </p:nvSpPr>
        <p:spPr>
          <a:xfrm>
            <a:off x="9395375" y="5925700"/>
            <a:ext cx="7754700" cy="23937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lang="en-US" sz="190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Optimization:</a:t>
            </a:r>
            <a:endParaRPr b="1" i="0" sz="19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7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U</a:t>
            </a:r>
            <a:r>
              <a:rPr lang="en-US" sz="17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sing a “Block” session directly — initialization time reduced from ≈20 min to ≈1 min</a:t>
            </a:r>
            <a:endParaRPr sz="17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3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System Architecture</a:t>
            </a:r>
            <a:endParaRPr/>
          </a:p>
        </p:txBody>
      </p:sp>
      <p:pic>
        <p:nvPicPr>
          <p:cNvPr id="119" name="Google Shape;11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43897" y="1600000"/>
            <a:ext cx="9751478" cy="82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3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0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4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Implementation results</a:t>
            </a:r>
            <a:endParaRPr/>
          </a:p>
        </p:txBody>
      </p:sp>
      <p:sp>
        <p:nvSpPr>
          <p:cNvPr id="127" name="Google Shape;127;p14"/>
          <p:cNvSpPr/>
          <p:nvPr/>
        </p:nvSpPr>
        <p:spPr>
          <a:xfrm>
            <a:off x="1095375" y="2167875"/>
            <a:ext cx="16043700" cy="10023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34000" lIns="620000" spcFirstLastPara="1" rIns="620000" wrap="square" tIns="434000">
            <a:noAutofit/>
          </a:bodyPr>
          <a:lstStyle/>
          <a:p>
            <a:pPr indent="0" lvl="0" marL="0" marR="0" rtl="0" algn="l">
              <a:lnSpc>
                <a:spcPct val="1315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The system was running on a Linux host inside a Podman container. Virtualized using QEMU</a:t>
            </a:r>
            <a:r>
              <a:rPr lang="en-US" sz="1900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with options for AES/SHA hardware acceleration and virtual NVMe usage </a:t>
            </a:r>
            <a:endParaRPr/>
          </a:p>
        </p:txBody>
      </p:sp>
      <p:sp>
        <p:nvSpPr>
          <p:cNvPr id="128" name="Google Shape;128;p14"/>
          <p:cNvSpPr/>
          <p:nvPr/>
        </p:nvSpPr>
        <p:spPr>
          <a:xfrm>
            <a:off x="1095375" y="3566900"/>
            <a:ext cx="7119900" cy="24705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174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All functional checks were passed</a:t>
            </a:r>
            <a:endParaRPr/>
          </a:p>
          <a:p>
            <a:pPr indent="-342900" lvl="0" marL="45720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SzPts val="1800"/>
              <a:buFont typeface="IBM Plex Sans"/>
              <a:buChar char="●"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Normal boot / shutdown / restore cycle</a:t>
            </a:r>
            <a:endParaRPr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36550" lvl="0" marL="45720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IBM Plex Sans"/>
              <a:buChar char="●"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Encrypted image cannot be mounted without key</a:t>
            </a:r>
            <a:endParaRPr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2900" lvl="0" marL="45720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IBM Plex Sans"/>
              <a:buChar char="●"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Key/hash replacement attack — superblock not detected</a:t>
            </a:r>
            <a:endParaRPr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2900" lvl="0" marL="45720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IBM Plex Sans"/>
              <a:buChar char="●"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Crash recovery via </a:t>
            </a:r>
            <a:r>
              <a:rPr i="1"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fsck</a:t>
            </a:r>
            <a:endParaRPr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129" name="Google Shape;12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4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graphicFrame>
        <p:nvGraphicFramePr>
          <p:cNvPr id="131" name="Google Shape;131;p14"/>
          <p:cNvGraphicFramePr/>
          <p:nvPr/>
        </p:nvGraphicFramePr>
        <p:xfrm>
          <a:off x="1095375" y="643413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{9DCD8CC6-605B-463A-97F4-F1FC5EB6F047}</a:tableStyleId>
              </a:tblPr>
              <a:tblGrid>
                <a:gridCol w="2152050"/>
                <a:gridCol w="1953850"/>
                <a:gridCol w="1499500"/>
                <a:gridCol w="1514475"/>
              </a:tblGrid>
              <a:tr h="93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Operation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40BA2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Without enc.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40BA2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With enc.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40BA2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Overhead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40BA21"/>
                    </a:solidFill>
                  </a:tcPr>
                </a:tc>
              </a:tr>
              <a:tr h="93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Snapshot creation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2.10 s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51.00 s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2E8B16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≈ 24×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FFFFFF"/>
                    </a:solidFill>
                  </a:tcPr>
                </a:tc>
              </a:tr>
              <a:tr h="93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Snapshot restore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2.50 s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27.30 s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2E8B16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≈ 11×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132" name="Google Shape;132;p14"/>
          <p:cNvSpPr/>
          <p:nvPr/>
        </p:nvSpPr>
        <p:spPr>
          <a:xfrm>
            <a:off x="10019175" y="3566900"/>
            <a:ext cx="7119900" cy="24705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1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Performance overhead </a:t>
            </a: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measurement</a:t>
            </a: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setup</a:t>
            </a:r>
            <a:endParaRPr/>
          </a:p>
          <a:p>
            <a:pPr indent="0" lvl="0" marL="0" rtl="0" algn="l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1750"/>
              <a:buFont typeface="Montserrat SemiBold"/>
              <a:buNone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</a:t>
            </a: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irst snapshot creation and reboot with restore, 5 runs each </a:t>
            </a:r>
            <a:r>
              <a:rPr i="1"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(no statistical confirmation)</a:t>
            </a:r>
            <a:endParaRPr i="1"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33" name="Google Shape;133;p14"/>
          <p:cNvSpPr/>
          <p:nvPr/>
        </p:nvSpPr>
        <p:spPr>
          <a:xfrm>
            <a:off x="10019175" y="6420833"/>
            <a:ext cx="7119900" cy="2811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lang="en-US" sz="2000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Performance target  was not met. The reason requires additional investigation</a:t>
            </a:r>
            <a:endParaRPr sz="2000">
              <a:solidFill>
                <a:srgbClr val="FFFFFF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lang="en-US" sz="200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Possible:</a:t>
            </a:r>
            <a:endParaRPr b="1" sz="200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42900" lvl="0" marL="457200" marR="0" rtl="0" algn="l">
              <a:lnSpc>
                <a:spcPct val="127777"/>
              </a:lnSpc>
              <a:spcBef>
                <a:spcPts val="25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IBM Plex Sans"/>
              <a:buChar char="●"/>
            </a:pPr>
            <a:r>
              <a:rPr b="0" i="0" lang="en-US" sz="18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Known Tresor limitation — no multithreading optimization and high complexity</a:t>
            </a:r>
            <a:endParaRPr sz="18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2900" lvl="0" marL="457200" marR="0" rtl="0" algn="l">
              <a:lnSpc>
                <a:spcPct val="12777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IBM Plex Sans"/>
              <a:buChar char="●"/>
            </a:pPr>
            <a:r>
              <a:rPr lang="en-US" sz="18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Scheduling issues</a:t>
            </a:r>
            <a:endParaRPr sz="18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2900" lvl="0" marL="457200" marR="0" rtl="0" algn="l">
              <a:lnSpc>
                <a:spcPct val="12777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IBM Plex Sans"/>
              <a:buChar char="●"/>
            </a:pPr>
            <a:r>
              <a:rPr lang="en-US" sz="18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Multi-level implementation</a:t>
            </a:r>
            <a:endParaRPr sz="18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5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Evaluation &amp; </a:t>
            </a: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Conclusion</a:t>
            </a:r>
            <a:endParaRPr b="1" i="0" sz="2800" u="none" cap="none" strike="noStrike">
              <a:solidFill>
                <a:srgbClr val="1A1A1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9" name="Google Shape;139;p15"/>
          <p:cNvSpPr/>
          <p:nvPr/>
        </p:nvSpPr>
        <p:spPr>
          <a:xfrm>
            <a:off x="9493800" y="5541400"/>
            <a:ext cx="8049900" cy="40086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34000" lIns="620000" spcFirstLastPara="1" rIns="620000" wrap="square" tIns="434000">
            <a:noAutofit/>
          </a:bodyPr>
          <a:lstStyle/>
          <a:p>
            <a:pPr indent="-342900" lvl="0" marL="3429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Char char="•"/>
            </a:pPr>
            <a:r>
              <a:rPr b="1" lang="en-US" sz="200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Semi-enclosed environment model</a:t>
            </a:r>
            <a:r>
              <a:rPr b="1" i="0" lang="en-US" sz="20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r>
              <a:rPr b="1" lang="en-US" sz="200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was</a:t>
            </a:r>
            <a:r>
              <a:rPr b="1" i="0" lang="en-US" sz="20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examined</a:t>
            </a:r>
            <a:endParaRPr/>
          </a:p>
          <a:p>
            <a:pPr indent="-342900" lvl="0" marL="342900" marR="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Char char="•"/>
            </a:pPr>
            <a:r>
              <a:rPr b="1" i="0" lang="en-US" sz="20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 security approach was selected</a:t>
            </a:r>
            <a:endParaRPr/>
          </a:p>
          <a:p>
            <a:pPr indent="-342900" lvl="0" marL="342900" marR="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Char char="•"/>
            </a:pPr>
            <a:r>
              <a:rPr b="1" i="0" lang="en-US" sz="20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Developed se_vault based on file_vault</a:t>
            </a:r>
            <a:endParaRPr b="1" i="0" sz="20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40" name="Google Shape;140;p15"/>
          <p:cNvSpPr/>
          <p:nvPr/>
        </p:nvSpPr>
        <p:spPr>
          <a:xfrm>
            <a:off x="1095375" y="5541400"/>
            <a:ext cx="8049900" cy="40086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E8B16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Improvements</a:t>
            </a:r>
            <a:endParaRPr/>
          </a:p>
          <a:p>
            <a:pPr indent="-279400" lvl="0" marL="28575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Security gain: snapshot encryption enabled</a:t>
            </a:r>
            <a:endParaRPr sz="1900"/>
          </a:p>
          <a:p>
            <a:pPr indent="-279400" lvl="0" marL="28575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Integrity gain: SHA-256 at block level (Tresor) and hash at FS level (Snapper)</a:t>
            </a:r>
            <a:endParaRPr sz="1900"/>
          </a:p>
          <a:p>
            <a:pPr indent="0" lvl="0" marL="0" marR="0" rtl="0" algn="l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E8B16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Future work</a:t>
            </a:r>
            <a:endParaRPr/>
          </a:p>
          <a:p>
            <a:pPr indent="-279400" lvl="0" marL="28575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Decrease performance overhead (</a:t>
            </a:r>
            <a:r>
              <a:rPr lang="en-US" sz="19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investigate the problem with implementation</a:t>
            </a: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); encrypt the isomem block device</a:t>
            </a:r>
            <a:endParaRPr sz="1900"/>
          </a:p>
          <a:p>
            <a:pPr indent="-279400" lvl="0" marL="28575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Merge Snapper and Tresor snapshot concepts; bring the PoC to industrial scale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1" name="Google Shape;14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5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143" name="Google Shape;143;p15"/>
          <p:cNvSpPr/>
          <p:nvPr/>
        </p:nvSpPr>
        <p:spPr>
          <a:xfrm>
            <a:off x="1095375" y="2858525"/>
            <a:ext cx="8049900" cy="24042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06000" lIns="580000" spcFirstLastPara="1" rIns="580000" wrap="square" tIns="406000">
            <a:noAutofit/>
          </a:bodyPr>
          <a:lstStyle/>
          <a:p>
            <a:pPr indent="0" lvl="0" marL="0" marR="0" rtl="0" algn="l">
              <a:lnSpc>
                <a:spcPct val="121428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2E8B16"/>
                </a:solidFill>
                <a:latin typeface="Montserrat"/>
                <a:ea typeface="Montserrat"/>
                <a:cs typeface="Montserrat"/>
                <a:sym typeface="Montserrat"/>
              </a:rPr>
              <a:t>✓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Mandatory authorization (USB key)</a:t>
            </a:r>
            <a:endParaRPr/>
          </a:p>
          <a:p>
            <a:pPr indent="0" lvl="0" marL="0" marR="0" rtl="0" algn="l">
              <a:lnSpc>
                <a:spcPct val="121428"/>
              </a:lnSpc>
              <a:spcBef>
                <a:spcPts val="260"/>
              </a:spcBef>
              <a:spcAft>
                <a:spcPts val="0"/>
              </a:spcAft>
              <a:buClr>
                <a:srgbClr val="2E8B16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2E8B16"/>
                </a:solidFill>
                <a:latin typeface="Montserrat"/>
                <a:ea typeface="Montserrat"/>
                <a:cs typeface="Montserrat"/>
                <a:sym typeface="Montserrat"/>
              </a:rPr>
              <a:t>✓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 on external medium</a:t>
            </a:r>
            <a:endParaRPr/>
          </a:p>
          <a:p>
            <a:pPr indent="0" lvl="0" marL="0" marR="0" rtl="0" algn="l">
              <a:lnSpc>
                <a:spcPct val="121428"/>
              </a:lnSpc>
              <a:spcBef>
                <a:spcPts val="260"/>
              </a:spcBef>
              <a:spcAft>
                <a:spcPts val="0"/>
              </a:spcAft>
              <a:buClr>
                <a:srgbClr val="2E8B16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2E8B16"/>
                </a:solidFill>
                <a:latin typeface="Montserrat"/>
                <a:ea typeface="Montserrat"/>
                <a:cs typeface="Montserrat"/>
                <a:sym typeface="Montserrat"/>
              </a:rPr>
              <a:t>✓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AES block-level encryption</a:t>
            </a:r>
            <a:endParaRPr/>
          </a:p>
          <a:p>
            <a:pPr indent="0" lvl="0" marL="0" marR="0" rtl="0" algn="l">
              <a:lnSpc>
                <a:spcPct val="121428"/>
              </a:lnSpc>
              <a:spcBef>
                <a:spcPts val="260"/>
              </a:spcBef>
              <a:spcAft>
                <a:spcPts val="0"/>
              </a:spcAft>
              <a:buClr>
                <a:srgbClr val="2E8B16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2E8B16"/>
                </a:solidFill>
                <a:latin typeface="Montserrat"/>
                <a:ea typeface="Montserrat"/>
                <a:cs typeface="Montserrat"/>
                <a:sym typeface="Montserrat"/>
              </a:rPr>
              <a:t>✓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Only encrypted data on disk</a:t>
            </a:r>
            <a:endParaRPr/>
          </a:p>
          <a:p>
            <a:pPr indent="0" lvl="0" marL="0" marR="0" rtl="0" algn="l">
              <a:lnSpc>
                <a:spcPct val="121428"/>
              </a:lnSpc>
              <a:spcBef>
                <a:spcPts val="260"/>
              </a:spcBef>
              <a:spcAft>
                <a:spcPts val="0"/>
              </a:spcAft>
              <a:buClr>
                <a:srgbClr val="E8401C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E8401C"/>
                </a:solidFill>
                <a:latin typeface="Montserrat"/>
                <a:ea typeface="Montserrat"/>
                <a:cs typeface="Montserrat"/>
                <a:sym typeface="Montserrat"/>
              </a:rPr>
              <a:t>✗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Overhead ≤ 2× (Tresor limitation)</a:t>
            </a:r>
            <a:endParaRPr/>
          </a:p>
        </p:txBody>
      </p:sp>
      <p:sp>
        <p:nvSpPr>
          <p:cNvPr id="144" name="Google Shape;144;p15"/>
          <p:cNvSpPr/>
          <p:nvPr/>
        </p:nvSpPr>
        <p:spPr>
          <a:xfrm>
            <a:off x="9493800" y="2858525"/>
            <a:ext cx="8049900" cy="24042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34000" lIns="620000" spcFirstLastPara="1" rIns="620000" wrap="square" tIns="434000">
            <a:noAutofit/>
          </a:bodyPr>
          <a:lstStyle/>
          <a:p>
            <a:pPr indent="0" lvl="0" marL="0" marR="0" rtl="0" algn="l">
              <a:lnSpc>
                <a:spcPct val="13170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50"/>
              <a:buFont typeface="IBM Plex Sans Medium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The prototype demonstrates feasibility and functional protection, but is not production-ready.</a:t>
            </a:r>
            <a:endParaRPr sz="2000">
              <a:solidFill>
                <a:srgbClr val="FFFFFF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indent="0" lvl="0" marL="0" marR="0" rtl="0" algn="l">
              <a:lnSpc>
                <a:spcPct val="13170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50"/>
              <a:buFont typeface="IBM Plex Sans Medium"/>
              <a:buNone/>
            </a:pPr>
            <a:r>
              <a:rPr lang="en-US" sz="2000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T</a:t>
            </a:r>
            <a:r>
              <a:rPr b="0" i="0" lang="en-US" sz="20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he current overheads may be acceptable in certain scenarios.</a:t>
            </a:r>
            <a:endParaRPr sz="2000"/>
          </a:p>
        </p:txBody>
      </p:sp>
      <p:sp>
        <p:nvSpPr>
          <p:cNvPr id="145" name="Google Shape;145;p15"/>
          <p:cNvSpPr/>
          <p:nvPr/>
        </p:nvSpPr>
        <p:spPr>
          <a:xfrm>
            <a:off x="1095375" y="1855450"/>
            <a:ext cx="16448400" cy="7476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 of 5 requirements met; Consistent with the considered scenario </a:t>
            </a:r>
            <a:endParaRPr b="1" i="0" sz="22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52A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50" name="Google Shape;15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76750" y="0"/>
            <a:ext cx="1381125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51" name="Google Shape;151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371475"/>
            <a:ext cx="18288000" cy="9648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52" name="Google Shape;152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6625" y="4953000"/>
            <a:ext cx="4695825" cy="468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53" name="Google Shape;153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678025" y="962025"/>
            <a:ext cx="3609975" cy="5114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54" name="Google Shape;154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5287625" y="3724275"/>
            <a:ext cx="3000375" cy="63722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6"/>
          <p:cNvSpPr/>
          <p:nvPr/>
        </p:nvSpPr>
        <p:spPr>
          <a:xfrm>
            <a:off x="5896040" y="4403000"/>
            <a:ext cx="6495919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4375"/>
              </a:lnSpc>
              <a:spcBef>
                <a:spcPts val="0"/>
              </a:spcBef>
              <a:spcAft>
                <a:spcPts val="0"/>
              </a:spcAft>
              <a:buClr>
                <a:srgbClr val="6FE34B"/>
              </a:buClr>
              <a:buSzPts val="9600"/>
              <a:buFont typeface="Montserrat"/>
              <a:buNone/>
            </a:pPr>
            <a:r>
              <a:rPr b="1" i="0" lang="en-US" sz="9600" u="none" cap="none" strike="noStrike">
                <a:solidFill>
                  <a:srgbClr val="6FE34B"/>
                </a:solidFill>
                <a:latin typeface="Montserrat"/>
                <a:ea typeface="Montserrat"/>
                <a:cs typeface="Montserrat"/>
                <a:sym typeface="Montserrat"/>
              </a:rPr>
              <a:t>Questions</a:t>
            </a:r>
            <a:endParaRPr b="0" i="0" sz="6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6" name="Google Shape;156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137156" y="1137191"/>
            <a:ext cx="3027200" cy="8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