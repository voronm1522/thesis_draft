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</p:sldIdLst>
  <p:sldSz cy="10287000" cx="18288000"/>
  <p:notesSz cx="10287000" cy="18288000"/>
  <p:embeddedFontLst>
    <p:embeddedFont>
      <p:font typeface="IBM Plex Sans"/>
      <p:regular r:id="rId19"/>
      <p:bold r:id="rId20"/>
      <p:italic r:id="rId21"/>
      <p:boldItalic r:id="rId22"/>
    </p:embeddedFont>
    <p:embeddedFont>
      <p:font typeface="Montserrat SemiBold"/>
      <p:regular r:id="rId23"/>
      <p:bold r:id="rId24"/>
      <p:italic r:id="rId25"/>
      <p:boldItalic r:id="rId26"/>
    </p:embeddedFont>
    <p:embeddedFont>
      <p:font typeface="Montserrat"/>
      <p:bold r:id="rId27"/>
      <p:boldItalic r:id="rId28"/>
    </p:embeddedFont>
    <p:embeddedFont>
      <p:font typeface="Montserrat Medium"/>
      <p:regular r:id="rId29"/>
      <p:bold r:id="rId30"/>
      <p:italic r:id="rId31"/>
      <p:boldItalic r:id="rId32"/>
    </p:embeddedFont>
    <p:embeddedFont>
      <p:font typeface="IBM Plex Sans Medium"/>
      <p:regular r:id="rId33"/>
      <p:bold r:id="rId34"/>
      <p:italic r:id="rId35"/>
      <p:boldItalic r:id="rId36"/>
    </p:embeddedFont>
    <p:embeddedFont>
      <p:font typeface="IBM Plex Mono"/>
      <p:regular r:id="rId37"/>
      <p:bold r:id="rId38"/>
      <p:italic r:id="rId39"/>
      <p:boldItalic r:id="rId4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1DB251A-98A4-41E1-A828-40190C7FFB22}">
  <a:tblStyle styleId="{E1DB251A-98A4-41E1-A828-40190C7FFB2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IBMPlexMono-boldItalic.fntdata"/><Relationship Id="rId20" Type="http://schemas.openxmlformats.org/officeDocument/2006/relationships/font" Target="fonts/IBMPlexSans-bold.fntdata"/><Relationship Id="rId22" Type="http://schemas.openxmlformats.org/officeDocument/2006/relationships/font" Target="fonts/IBMPlexSans-boldItalic.fntdata"/><Relationship Id="rId21" Type="http://schemas.openxmlformats.org/officeDocument/2006/relationships/font" Target="fonts/IBMPlexSans-italic.fntdata"/><Relationship Id="rId24" Type="http://schemas.openxmlformats.org/officeDocument/2006/relationships/font" Target="fonts/MontserratSemiBold-bold.fntdata"/><Relationship Id="rId23" Type="http://schemas.openxmlformats.org/officeDocument/2006/relationships/font" Target="fonts/MontserratSemiBold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MontserratSemiBold-boldItalic.fntdata"/><Relationship Id="rId25" Type="http://schemas.openxmlformats.org/officeDocument/2006/relationships/font" Target="fonts/MontserratSemiBold-italic.fntdata"/><Relationship Id="rId28" Type="http://schemas.openxmlformats.org/officeDocument/2006/relationships/font" Target="fonts/Montserrat-boldItalic.fntdata"/><Relationship Id="rId27" Type="http://schemas.openxmlformats.org/officeDocument/2006/relationships/font" Target="fonts/Montserrat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MontserratMedium-regular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MontserratMedium-italic.fntdata"/><Relationship Id="rId30" Type="http://schemas.openxmlformats.org/officeDocument/2006/relationships/font" Target="fonts/MontserratMedium-bold.fntdata"/><Relationship Id="rId11" Type="http://schemas.openxmlformats.org/officeDocument/2006/relationships/slide" Target="slides/slide6.xml"/><Relationship Id="rId33" Type="http://schemas.openxmlformats.org/officeDocument/2006/relationships/font" Target="fonts/IBMPlexSansMedium-regular.fntdata"/><Relationship Id="rId10" Type="http://schemas.openxmlformats.org/officeDocument/2006/relationships/slide" Target="slides/slide5.xml"/><Relationship Id="rId32" Type="http://schemas.openxmlformats.org/officeDocument/2006/relationships/font" Target="fonts/MontserratMedium-boldItalic.fntdata"/><Relationship Id="rId13" Type="http://schemas.openxmlformats.org/officeDocument/2006/relationships/slide" Target="slides/slide8.xml"/><Relationship Id="rId35" Type="http://schemas.openxmlformats.org/officeDocument/2006/relationships/font" Target="fonts/IBMPlexSansMedium-italic.fntdata"/><Relationship Id="rId12" Type="http://schemas.openxmlformats.org/officeDocument/2006/relationships/slide" Target="slides/slide7.xml"/><Relationship Id="rId34" Type="http://schemas.openxmlformats.org/officeDocument/2006/relationships/font" Target="fonts/IBMPlexSansMedium-bold.fntdata"/><Relationship Id="rId15" Type="http://schemas.openxmlformats.org/officeDocument/2006/relationships/slide" Target="slides/slide10.xml"/><Relationship Id="rId37" Type="http://schemas.openxmlformats.org/officeDocument/2006/relationships/font" Target="fonts/IBMPlexMono-regular.fntdata"/><Relationship Id="rId14" Type="http://schemas.openxmlformats.org/officeDocument/2006/relationships/slide" Target="slides/slide9.xml"/><Relationship Id="rId36" Type="http://schemas.openxmlformats.org/officeDocument/2006/relationships/font" Target="fonts/IBMPlexSansMedium-boldItalic.fntdata"/><Relationship Id="rId17" Type="http://schemas.openxmlformats.org/officeDocument/2006/relationships/slide" Target="slides/slide12.xml"/><Relationship Id="rId39" Type="http://schemas.openxmlformats.org/officeDocument/2006/relationships/font" Target="fonts/IBMPlexMono-italic.fntdata"/><Relationship Id="rId16" Type="http://schemas.openxmlformats.org/officeDocument/2006/relationships/slide" Target="slides/slide11.xml"/><Relationship Id="rId38" Type="http://schemas.openxmlformats.org/officeDocument/2006/relationships/font" Target="fonts/IBMPlexMono-bold.fntdata"/><Relationship Id="rId19" Type="http://schemas.openxmlformats.org/officeDocument/2006/relationships/font" Target="fonts/IBMPlexSans-regular.fntdata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714825" y="1371600"/>
            <a:ext cx="6858325" cy="6858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1028700" y="8686800"/>
            <a:ext cx="8229600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1:notes"/>
          <p:cNvSpPr txBox="1"/>
          <p:nvPr>
            <p:ph idx="1" type="body"/>
          </p:nvPr>
        </p:nvSpPr>
        <p:spPr>
          <a:xfrm>
            <a:off x="1028700" y="8686800"/>
            <a:ext cx="8229600" cy="822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" name="Google Shape;9;p1:notes"/>
          <p:cNvSpPr/>
          <p:nvPr>
            <p:ph idx="2" type="sldImg"/>
          </p:nvPr>
        </p:nvSpPr>
        <p:spPr>
          <a:xfrm>
            <a:off x="1714825" y="1371600"/>
            <a:ext cx="6858325" cy="6858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2:notes"/>
          <p:cNvSpPr txBox="1"/>
          <p:nvPr>
            <p:ph idx="1" type="body"/>
          </p:nvPr>
        </p:nvSpPr>
        <p:spPr>
          <a:xfrm>
            <a:off x="1028700" y="8686800"/>
            <a:ext cx="8229600" cy="822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" name="Google Shape;21;p2:notes"/>
          <p:cNvSpPr/>
          <p:nvPr>
            <p:ph idx="2" type="sldImg"/>
          </p:nvPr>
        </p:nvSpPr>
        <p:spPr>
          <a:xfrm>
            <a:off x="1714825" y="1371600"/>
            <a:ext cx="6858325" cy="6858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:notes"/>
          <p:cNvSpPr txBox="1"/>
          <p:nvPr>
            <p:ph idx="1" type="body"/>
          </p:nvPr>
        </p:nvSpPr>
        <p:spPr>
          <a:xfrm>
            <a:off x="1028700" y="8686800"/>
            <a:ext cx="8229600" cy="822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" name="Google Shape;32;p4:notes"/>
          <p:cNvSpPr/>
          <p:nvPr>
            <p:ph idx="2" type="sldImg"/>
          </p:nvPr>
        </p:nvSpPr>
        <p:spPr>
          <a:xfrm>
            <a:off x="1714825" y="1371600"/>
            <a:ext cx="6858325" cy="6858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7:notes"/>
          <p:cNvSpPr txBox="1"/>
          <p:nvPr>
            <p:ph idx="1" type="body"/>
          </p:nvPr>
        </p:nvSpPr>
        <p:spPr>
          <a:xfrm>
            <a:off x="1028700" y="8686800"/>
            <a:ext cx="8229600" cy="822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" name="Google Shape;45;p7:notes"/>
          <p:cNvSpPr/>
          <p:nvPr>
            <p:ph idx="2" type="sldImg"/>
          </p:nvPr>
        </p:nvSpPr>
        <p:spPr>
          <a:xfrm>
            <a:off x="1714825" y="1371600"/>
            <a:ext cx="6858325" cy="6858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8:notes"/>
          <p:cNvSpPr txBox="1"/>
          <p:nvPr>
            <p:ph idx="1" type="body"/>
          </p:nvPr>
        </p:nvSpPr>
        <p:spPr>
          <a:xfrm>
            <a:off x="1028700" y="8686800"/>
            <a:ext cx="8229600" cy="822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" name="Google Shape;57;p8:notes"/>
          <p:cNvSpPr/>
          <p:nvPr>
            <p:ph idx="2" type="sldImg"/>
          </p:nvPr>
        </p:nvSpPr>
        <p:spPr>
          <a:xfrm>
            <a:off x="1714825" y="1371600"/>
            <a:ext cx="6858325" cy="6858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:notes"/>
          <p:cNvSpPr txBox="1"/>
          <p:nvPr>
            <p:ph idx="1" type="body"/>
          </p:nvPr>
        </p:nvSpPr>
        <p:spPr>
          <a:xfrm>
            <a:off x="1028700" y="8686800"/>
            <a:ext cx="8229600" cy="822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" name="Google Shape;70;p11:notes"/>
          <p:cNvSpPr/>
          <p:nvPr>
            <p:ph idx="2" type="sldImg"/>
          </p:nvPr>
        </p:nvSpPr>
        <p:spPr>
          <a:xfrm>
            <a:off x="1714825" y="1371600"/>
            <a:ext cx="6858325" cy="6858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2:notes"/>
          <p:cNvSpPr txBox="1"/>
          <p:nvPr>
            <p:ph idx="1" type="body"/>
          </p:nvPr>
        </p:nvSpPr>
        <p:spPr>
          <a:xfrm>
            <a:off x="1028700" y="8686800"/>
            <a:ext cx="8229600" cy="822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" name="Google Shape;78;p12:notes"/>
          <p:cNvSpPr/>
          <p:nvPr>
            <p:ph idx="2" type="sldImg"/>
          </p:nvPr>
        </p:nvSpPr>
        <p:spPr>
          <a:xfrm>
            <a:off x="1714825" y="1371600"/>
            <a:ext cx="6858325" cy="6858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0:notes"/>
          <p:cNvSpPr txBox="1"/>
          <p:nvPr>
            <p:ph idx="1" type="body"/>
          </p:nvPr>
        </p:nvSpPr>
        <p:spPr>
          <a:xfrm>
            <a:off x="1028700" y="8686800"/>
            <a:ext cx="8229600" cy="822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10:notes"/>
          <p:cNvSpPr/>
          <p:nvPr>
            <p:ph idx="2" type="sldImg"/>
          </p:nvPr>
        </p:nvSpPr>
        <p:spPr>
          <a:xfrm>
            <a:off x="1714825" y="1371600"/>
            <a:ext cx="6858325" cy="6858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:notes"/>
          <p:cNvSpPr txBox="1"/>
          <p:nvPr>
            <p:ph idx="1" type="body"/>
          </p:nvPr>
        </p:nvSpPr>
        <p:spPr>
          <a:xfrm>
            <a:off x="1028700" y="8686800"/>
            <a:ext cx="8229600" cy="822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13:notes"/>
          <p:cNvSpPr/>
          <p:nvPr>
            <p:ph idx="2" type="sldImg"/>
          </p:nvPr>
        </p:nvSpPr>
        <p:spPr>
          <a:xfrm>
            <a:off x="1714825" y="1371600"/>
            <a:ext cx="6858325" cy="6858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:notes"/>
          <p:cNvSpPr txBox="1"/>
          <p:nvPr>
            <p:ph idx="1" type="body"/>
          </p:nvPr>
        </p:nvSpPr>
        <p:spPr>
          <a:xfrm>
            <a:off x="1028700" y="8686800"/>
            <a:ext cx="8229600" cy="822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15:notes"/>
          <p:cNvSpPr/>
          <p:nvPr>
            <p:ph idx="2" type="sldImg"/>
          </p:nvPr>
        </p:nvSpPr>
        <p:spPr>
          <a:xfrm>
            <a:off x="1714825" y="1371600"/>
            <a:ext cx="6858325" cy="6858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:notes"/>
          <p:cNvSpPr txBox="1"/>
          <p:nvPr>
            <p:ph idx="1" type="body"/>
          </p:nvPr>
        </p:nvSpPr>
        <p:spPr>
          <a:xfrm>
            <a:off x="1028700" y="8686800"/>
            <a:ext cx="8229600" cy="822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16:notes"/>
          <p:cNvSpPr/>
          <p:nvPr>
            <p:ph idx="2" type="sldImg"/>
          </p:nvPr>
        </p:nvSpPr>
        <p:spPr>
          <a:xfrm>
            <a:off x="1714825" y="1371600"/>
            <a:ext cx="6858325" cy="6858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0:notes"/>
          <p:cNvSpPr txBox="1"/>
          <p:nvPr>
            <p:ph idx="1" type="body"/>
          </p:nvPr>
        </p:nvSpPr>
        <p:spPr>
          <a:xfrm>
            <a:off x="1028700" y="8686800"/>
            <a:ext cx="8229600" cy="822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20:notes"/>
          <p:cNvSpPr/>
          <p:nvPr>
            <p:ph idx="2" type="sldImg"/>
          </p:nvPr>
        </p:nvSpPr>
        <p:spPr>
          <a:xfrm>
            <a:off x="1714825" y="1371600"/>
            <a:ext cx="6858325" cy="6858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1:notes"/>
          <p:cNvSpPr txBox="1"/>
          <p:nvPr>
            <p:ph idx="1" type="body"/>
          </p:nvPr>
        </p:nvSpPr>
        <p:spPr>
          <a:xfrm>
            <a:off x="1028700" y="8686800"/>
            <a:ext cx="8229600" cy="822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21:notes"/>
          <p:cNvSpPr/>
          <p:nvPr>
            <p:ph idx="2" type="sldImg"/>
          </p:nvPr>
        </p:nvSpPr>
        <p:spPr>
          <a:xfrm>
            <a:off x="1714825" y="1371600"/>
            <a:ext cx="6858325" cy="6858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5.png"/><Relationship Id="rId6" Type="http://schemas.openxmlformats.org/officeDocument/2006/relationships/image" Target="../media/image4.png"/><Relationship Id="rId7" Type="http://schemas.openxmlformats.org/officeDocument/2006/relationships/image" Target="../media/image7.png"/><Relationship Id="rId8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9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10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5.png"/><Relationship Id="rId6" Type="http://schemas.openxmlformats.org/officeDocument/2006/relationships/image" Target="../media/image4.png"/><Relationship Id="rId7" Type="http://schemas.openxmlformats.org/officeDocument/2006/relationships/image" Target="../media/image7.png"/><Relationship Id="rId8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52A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476750" y="0"/>
            <a:ext cx="1381125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2" name="Google Shape;12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371475"/>
            <a:ext cx="18288000" cy="96488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096625" y="4953000"/>
            <a:ext cx="4695825" cy="46863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4" name="Google Shape;14;p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4678025" y="962025"/>
            <a:ext cx="3609975" cy="51149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5" name="Google Shape;15;p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5287625" y="3724275"/>
            <a:ext cx="3000375" cy="6372225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3"/>
          <p:cNvSpPr/>
          <p:nvPr/>
        </p:nvSpPr>
        <p:spPr>
          <a:xfrm>
            <a:off x="1057275" y="6900000"/>
            <a:ext cx="9000000" cy="2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529"/>
              </a:lnSpc>
              <a:spcBef>
                <a:spcPts val="0"/>
              </a:spcBef>
              <a:spcAft>
                <a:spcPts val="0"/>
              </a:spcAft>
              <a:buClr>
                <a:srgbClr val="40BA21"/>
              </a:buClr>
              <a:buSzPts val="3400"/>
              <a:buFont typeface="Montserrat"/>
              <a:buNone/>
            </a:pPr>
            <a:r>
              <a:rPr b="1" i="0" lang="en-US" sz="3400" u="none" cap="none" strike="noStrike">
                <a:solidFill>
                  <a:srgbClr val="40BA21"/>
                </a:solidFill>
                <a:latin typeface="Montserrat"/>
                <a:ea typeface="Montserrat"/>
                <a:cs typeface="Montserrat"/>
                <a:sym typeface="Montserrat"/>
              </a:rPr>
              <a:t>Research and Adaptation</a:t>
            </a:r>
            <a:br>
              <a:rPr b="1" i="0" lang="en-US" sz="3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3400" u="none" cap="none" strike="noStrike">
                <a:solidFill>
                  <a:srgbClr val="40BA21"/>
                </a:solidFill>
                <a:latin typeface="Montserrat"/>
                <a:ea typeface="Montserrat"/>
                <a:cs typeface="Montserrat"/>
                <a:sym typeface="Montserrat"/>
              </a:rPr>
              <a:t>of Components from the</a:t>
            </a:r>
            <a:br>
              <a:rPr b="1" i="0" lang="en-US" sz="3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3400" u="none" cap="none" strike="noStrike">
                <a:solidFill>
                  <a:srgbClr val="40BA21"/>
                </a:solidFill>
                <a:latin typeface="Montserrat"/>
                <a:ea typeface="Montserrat"/>
                <a:cs typeface="Montserrat"/>
                <a:sym typeface="Montserrat"/>
              </a:rPr>
              <a:t>Persistent OS Phantom for Genode</a:t>
            </a:r>
            <a:endParaRPr b="1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3"/>
          <p:cNvSpPr/>
          <p:nvPr/>
        </p:nvSpPr>
        <p:spPr>
          <a:xfrm>
            <a:off x="1123950" y="4650000"/>
            <a:ext cx="9000000" cy="21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IBM Plex Sans"/>
              <a:buNone/>
            </a:pPr>
            <a:r>
              <a:rPr b="0" i="0" lang="en-US" sz="20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Student: Mikhail Voronin</a:t>
            </a:r>
            <a:br>
              <a:rPr b="0" i="0" lang="en-US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20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Supervisor: Artem Burmyakov</a:t>
            </a:r>
            <a:br>
              <a:rPr b="0" i="0" lang="en-US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20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Consultant: Alexander Tormasov</a:t>
            </a:r>
            <a:br>
              <a:rPr b="0" i="0" lang="en-US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600" u="none" cap="none" strike="noStrike">
                <a:solidFill>
                  <a:srgbClr val="6FE34B"/>
                </a:solidFill>
                <a:latin typeface="IBM Plex Mono"/>
                <a:ea typeface="IBM Plex Mono"/>
                <a:cs typeface="IBM Plex Mono"/>
                <a:sym typeface="IBM Plex Mono"/>
              </a:rPr>
              <a:t>June 2026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" name="Google Shape;18;p3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1137156" y="1137191"/>
            <a:ext cx="3027200" cy="88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"/>
          <p:cNvSpPr/>
          <p:nvPr/>
        </p:nvSpPr>
        <p:spPr>
          <a:xfrm>
            <a:off x="1095375" y="900000"/>
            <a:ext cx="13000000" cy="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4285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800"/>
              <a:buFont typeface="Montserrat"/>
              <a:buNone/>
            </a:pPr>
            <a:r>
              <a:rPr b="1" i="0" lang="en-US" sz="2800" u="none" cap="none" strike="noStrike">
                <a:solidFill>
                  <a:srgbClr val="1A1A1A"/>
                </a:solidFill>
                <a:latin typeface="Montserrat"/>
                <a:ea typeface="Montserrat"/>
                <a:cs typeface="Montserrat"/>
                <a:sym typeface="Montserrat"/>
              </a:rPr>
              <a:t>Relevance &amp; Obje</a:t>
            </a:r>
            <a:r>
              <a:rPr b="1" lang="en-US" sz="2800">
                <a:solidFill>
                  <a:srgbClr val="1A1A1A"/>
                </a:solidFill>
                <a:latin typeface="Montserrat"/>
                <a:ea typeface="Montserrat"/>
                <a:cs typeface="Montserrat"/>
                <a:sym typeface="Montserrat"/>
              </a:rPr>
              <a:t>ctive</a:t>
            </a:r>
            <a:endParaRPr/>
          </a:p>
        </p:txBody>
      </p:sp>
      <p:sp>
        <p:nvSpPr>
          <p:cNvPr id="24" name="Google Shape;24;p4"/>
          <p:cNvSpPr/>
          <p:nvPr/>
        </p:nvSpPr>
        <p:spPr>
          <a:xfrm>
            <a:off x="1095375" y="2600000"/>
            <a:ext cx="9300000" cy="3000000"/>
          </a:xfrm>
          <a:prstGeom prst="roundRect">
            <a:avLst>
              <a:gd fmla="val 6000" name="adj"/>
            </a:avLst>
          </a:prstGeom>
          <a:solidFill>
            <a:srgbClr val="EEF1F4"/>
          </a:solidFill>
          <a:ln>
            <a:noFill/>
          </a:ln>
        </p:spPr>
        <p:txBody>
          <a:bodyPr anchorCtr="0" anchor="ctr" bIns="420000" lIns="600000" spcFirstLastPara="1" rIns="600000" wrap="square" tIns="42000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Orthogonal </a:t>
            </a:r>
            <a:r>
              <a:rPr i="0" lang="en-US" sz="2000" u="none" cap="none" strike="noStrike">
                <a:solidFill>
                  <a:srgbClr val="1A1A1A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persistence</a:t>
            </a:r>
            <a:r>
              <a:rPr b="0" i="0" lang="en-US" sz="2000" u="none" cap="none" strike="noStrike">
                <a:solidFill>
                  <a:srgbClr val="1A1A1A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:</a:t>
            </a:r>
            <a:endParaRPr b="0" i="0" sz="2000" u="none" cap="none" strike="noStrike">
              <a:solidFill>
                <a:srgbClr val="1A1A1A"/>
              </a:solidFill>
              <a:latin typeface="IBM Plex Sans Medium"/>
              <a:ea typeface="IBM Plex Sans Medium"/>
              <a:cs typeface="IBM Plex Sans Medium"/>
              <a:sym typeface="IBM Plex Sans Medium"/>
            </a:endParaRPr>
          </a:p>
          <a:p>
            <a:pPr indent="-400000" lvl="0" marL="400000" marR="0" rtl="0" algn="l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rgbClr val="1A1A1A"/>
              </a:buClr>
              <a:buSzPts val="2000"/>
              <a:buFont typeface="Arial"/>
              <a:buChar char="•"/>
            </a:pPr>
            <a:r>
              <a:rPr b="0" i="0" lang="en-US" sz="200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Developed in the 1970s</a:t>
            </a:r>
            <a:endParaRPr b="0" i="0" sz="2000" u="none" cap="none" strike="noStrike">
              <a:solidFill>
                <a:srgbClr val="1A1A1A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400000" lvl="0" marL="400000" marR="0" rtl="0" algn="l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rgbClr val="1A1A1A"/>
              </a:buClr>
              <a:buSzPts val="2000"/>
              <a:buFont typeface="Arial"/>
              <a:buChar char="•"/>
            </a:pPr>
            <a:r>
              <a:rPr b="0" i="0" lang="en-US" sz="200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Not well-studied</a:t>
            </a:r>
            <a:endParaRPr b="0" i="0" sz="2000" u="none" cap="none" strike="noStrike">
              <a:solidFill>
                <a:srgbClr val="1A1A1A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400000" lvl="0" marL="400000" marR="0" rtl="0" algn="l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rgbClr val="1A1A1A"/>
              </a:buClr>
              <a:buSzPts val="2000"/>
              <a:buFont typeface="Arial"/>
              <a:buChar char="•"/>
            </a:pPr>
            <a:r>
              <a:rPr b="0" i="0" lang="en-US" sz="200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The hardware and network balances have changed</a:t>
            </a:r>
            <a:endParaRPr b="0" i="0" sz="2000" u="none" cap="none" strike="noStrike">
              <a:solidFill>
                <a:srgbClr val="1A1A1A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400000" lvl="0" marL="400000" marR="0" rtl="0" algn="l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rgbClr val="1A1A1A"/>
              </a:buClr>
              <a:buSzPts val="2000"/>
              <a:buFont typeface="Arial"/>
              <a:buChar char="•"/>
            </a:pPr>
            <a:r>
              <a:rPr b="0" i="0" lang="en-US" sz="200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Changes in requirements (e. g., power consumption)</a:t>
            </a:r>
            <a:endParaRPr b="0" i="0" sz="2000" u="none" cap="none" strike="noStrike">
              <a:solidFill>
                <a:srgbClr val="1A1A1A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25" name="Google Shape;25;p4"/>
          <p:cNvSpPr/>
          <p:nvPr/>
        </p:nvSpPr>
        <p:spPr>
          <a:xfrm>
            <a:off x="10800000" y="2600000"/>
            <a:ext cx="6350000" cy="3000000"/>
          </a:xfrm>
          <a:prstGeom prst="roundRect">
            <a:avLst>
              <a:gd fmla="val 6000" name="adj"/>
            </a:avLst>
          </a:prstGeom>
          <a:solidFill>
            <a:srgbClr val="40BA21"/>
          </a:solidFill>
          <a:ln>
            <a:noFill/>
          </a:ln>
        </p:spPr>
        <p:txBody>
          <a:bodyPr anchorCtr="0" anchor="ctr" bIns="420000" lIns="600000" spcFirstLastPara="1" rIns="600000" wrap="square" tIns="420000">
            <a:noAutofit/>
          </a:bodyPr>
          <a:lstStyle/>
          <a:p>
            <a:pPr indent="0" lvl="0" marL="0" marR="0" rtl="0" algn="l">
              <a:lnSpc>
                <a:spcPct val="127272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Montserrat SemiBold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Why now?</a:t>
            </a:r>
            <a:endParaRPr/>
          </a:p>
          <a:p>
            <a:pPr indent="0" lvl="0" marL="0" marR="0" rtl="0" algn="l">
              <a:lnSpc>
                <a:spcPct val="133333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It is necessary to examine the relevance of persistence concepts in the current environment</a:t>
            </a:r>
            <a:endParaRPr b="0" i="0" sz="1800" u="none" cap="none" strike="noStrike">
              <a:solidFill>
                <a:srgbClr val="FFFFFF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900000" y="780000"/>
            <a:ext cx="2480000" cy="720500"/>
          </a:xfrm>
          <a:prstGeom prst="rect">
            <a:avLst/>
          </a:prstGeom>
          <a:noFill/>
          <a:ln>
            <a:noFill/>
          </a:ln>
        </p:spPr>
      </p:pic>
      <p:sp>
        <p:nvSpPr>
          <p:cNvPr id="27" name="Google Shape;27;p4"/>
          <p:cNvSpPr/>
          <p:nvPr/>
        </p:nvSpPr>
        <p:spPr>
          <a:xfrm>
            <a:off x="16400000" y="9550000"/>
            <a:ext cx="15000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A3AB"/>
              </a:buClr>
              <a:buSzPts val="1300"/>
              <a:buFont typeface="IBM Plex Mono"/>
              <a:buNone/>
            </a:pPr>
            <a:r>
              <a:rPr b="0" i="0" lang="en-US" sz="1300" u="none" cap="none" strike="noStrike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2/</a:t>
            </a:r>
            <a:r>
              <a:rPr lang="en-US" sz="1300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  <a:endParaRPr/>
          </a:p>
        </p:txBody>
      </p:sp>
      <p:sp>
        <p:nvSpPr>
          <p:cNvPr id="28" name="Google Shape;28;p4"/>
          <p:cNvSpPr/>
          <p:nvPr/>
        </p:nvSpPr>
        <p:spPr>
          <a:xfrm>
            <a:off x="1095375" y="6600000"/>
            <a:ext cx="9300000" cy="2810100"/>
          </a:xfrm>
          <a:prstGeom prst="roundRect">
            <a:avLst>
              <a:gd fmla="val 6000" name="adj"/>
            </a:avLst>
          </a:prstGeom>
          <a:solidFill>
            <a:srgbClr val="EEF1F4"/>
          </a:solidFill>
          <a:ln>
            <a:noFill/>
          </a:ln>
        </p:spPr>
        <p:txBody>
          <a:bodyPr anchorCtr="0" anchor="ctr" bIns="420000" lIns="600000" spcFirstLastPara="1" rIns="600000" wrap="square" tIns="420000">
            <a:noAutofit/>
          </a:bodyPr>
          <a:lstStyle/>
          <a:p>
            <a:pPr indent="0" lvl="0" marL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2000">
                <a:solidFill>
                  <a:srgbClr val="1A1A1A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Goals</a:t>
            </a:r>
            <a:endParaRPr sz="2000">
              <a:solidFill>
                <a:srgbClr val="1A1A1A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400000" lvl="0" marL="400000" rtl="0" algn="l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rgbClr val="1A1A1A"/>
              </a:buClr>
              <a:buSzPts val="2000"/>
              <a:buChar char="•"/>
            </a:pPr>
            <a:r>
              <a:rPr lang="en-US" sz="20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Analyze computer usage scenarios</a:t>
            </a:r>
            <a:endParaRPr sz="2000">
              <a:solidFill>
                <a:srgbClr val="1A1A1A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400000" lvl="0" marL="400000" rtl="0" algn="l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rgbClr val="1A1A1A"/>
              </a:buClr>
              <a:buSzPts val="2000"/>
              <a:buChar char="•"/>
            </a:pPr>
            <a:r>
              <a:rPr lang="en-US" sz="20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Develop security assurance component</a:t>
            </a:r>
            <a:endParaRPr sz="2000">
              <a:solidFill>
                <a:srgbClr val="1A1A1A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400000" lvl="0" marL="400000" rtl="0" algn="l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rgbClr val="1A1A1A"/>
              </a:buClr>
              <a:buSzPts val="2000"/>
              <a:buChar char="•"/>
            </a:pPr>
            <a:r>
              <a:rPr lang="en-US" sz="20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Verify protection correctness</a:t>
            </a:r>
            <a:endParaRPr b="0" i="0" sz="1900" u="none" cap="none" strike="noStrike">
              <a:solidFill>
                <a:srgbClr val="1A1A1A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29" name="Google Shape;29;p4"/>
          <p:cNvSpPr/>
          <p:nvPr/>
        </p:nvSpPr>
        <p:spPr>
          <a:xfrm>
            <a:off x="10800100" y="6600025"/>
            <a:ext cx="6350100" cy="2810100"/>
          </a:xfrm>
          <a:prstGeom prst="roundRect">
            <a:avLst>
              <a:gd fmla="val 6000" name="adj"/>
            </a:avLst>
          </a:prstGeom>
          <a:solidFill>
            <a:srgbClr val="40BA21"/>
          </a:solidFill>
          <a:ln>
            <a:noFill/>
          </a:ln>
        </p:spPr>
        <p:txBody>
          <a:bodyPr anchorCtr="0" anchor="ctr" bIns="455000" lIns="650000" spcFirstLastPara="1" rIns="650000" wrap="square" tIns="45500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Montserrat SemiBold"/>
              <a:buNone/>
            </a:pPr>
            <a:r>
              <a:rPr b="1" lang="en-US" sz="220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Current projects</a:t>
            </a:r>
            <a:endParaRPr sz="1200"/>
          </a:p>
          <a:p>
            <a:pPr indent="0" lvl="0" marL="0" marR="0" rtl="0" algn="l">
              <a:lnSpc>
                <a:spcPct val="131818"/>
              </a:lnSpc>
              <a:spcBef>
                <a:spcPts val="40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IBM Plex Sans Medium"/>
              <a:buNone/>
            </a:pPr>
            <a:r>
              <a:rPr lang="en-US" sz="1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rPr>
              <a:t>Different projects are implementing the concept</a:t>
            </a:r>
            <a:endParaRPr sz="1800">
              <a:solidFill>
                <a:schemeClr val="lt1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0" lvl="0" marL="0" rtl="0" algn="l">
              <a:lnSpc>
                <a:spcPct val="126315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rPr>
              <a:t>PhantomOS is our choice</a:t>
            </a:r>
            <a:endParaRPr sz="18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5"/>
          <p:cNvSpPr/>
          <p:nvPr/>
        </p:nvSpPr>
        <p:spPr>
          <a:xfrm>
            <a:off x="1095375" y="900000"/>
            <a:ext cx="13000000" cy="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4285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800"/>
              <a:buFont typeface="Montserrat"/>
              <a:buNone/>
            </a:pPr>
            <a:r>
              <a:rPr b="1" i="0" lang="en-US" sz="2800" u="none" cap="none" strike="noStrike">
                <a:solidFill>
                  <a:srgbClr val="1A1A1A"/>
                </a:solidFill>
                <a:latin typeface="Montserrat"/>
                <a:ea typeface="Montserrat"/>
                <a:cs typeface="Montserrat"/>
                <a:sym typeface="Montserrat"/>
              </a:rPr>
              <a:t>P</a:t>
            </a:r>
            <a:r>
              <a:rPr b="1" i="0" lang="en-US" sz="2800" u="none" cap="none" strike="noStrike">
                <a:solidFill>
                  <a:srgbClr val="1A1A1A"/>
                </a:solidFill>
                <a:latin typeface="Montserrat"/>
                <a:ea typeface="Montserrat"/>
                <a:cs typeface="Montserrat"/>
                <a:sym typeface="Montserrat"/>
              </a:rPr>
              <a:t>ersistence</a:t>
            </a:r>
            <a:endParaRPr/>
          </a:p>
        </p:txBody>
      </p:sp>
      <p:sp>
        <p:nvSpPr>
          <p:cNvPr id="35" name="Google Shape;35;p5"/>
          <p:cNvSpPr/>
          <p:nvPr/>
        </p:nvSpPr>
        <p:spPr>
          <a:xfrm>
            <a:off x="1095375" y="1850000"/>
            <a:ext cx="16050000" cy="1150000"/>
          </a:xfrm>
          <a:prstGeom prst="roundRect">
            <a:avLst>
              <a:gd fmla="val 6000" name="adj"/>
            </a:avLst>
          </a:prstGeom>
          <a:solidFill>
            <a:srgbClr val="40BA21"/>
          </a:solidFill>
          <a:ln>
            <a:noFill/>
          </a:ln>
        </p:spPr>
        <p:txBody>
          <a:bodyPr anchorCtr="0" anchor="ctr" bIns="385000" lIns="550000" spcFirstLastPara="1" rIns="550000" wrap="square" tIns="385000">
            <a:noAutofit/>
          </a:bodyPr>
          <a:lstStyle/>
          <a:p>
            <a:pPr indent="0" lvl="0" marL="0" marR="0" rtl="0" algn="l">
              <a:lnSpc>
                <a:spcPct val="128571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Montserrat SemiBold"/>
              <a:buNone/>
            </a:pPr>
            <a:r>
              <a:rPr b="1" i="0" lang="en-US" sz="210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Persistence</a:t>
            </a:r>
            <a:r>
              <a:rPr b="0" i="0" lang="en-US" sz="21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 is the period of time during which an object is usable</a:t>
            </a:r>
            <a:r>
              <a:rPr b="0" baseline="30000" i="0" lang="en-US" sz="21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1</a:t>
            </a:r>
            <a:endParaRPr b="1" baseline="30000" i="0" sz="1100" u="none" cap="none" strike="noStrike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36" name="Google Shape;36;p5"/>
          <p:cNvSpPr/>
          <p:nvPr/>
        </p:nvSpPr>
        <p:spPr>
          <a:xfrm>
            <a:off x="1095375" y="3250000"/>
            <a:ext cx="7700100" cy="2090700"/>
          </a:xfrm>
          <a:prstGeom prst="roundRect">
            <a:avLst>
              <a:gd fmla="val 6000" name="adj"/>
            </a:avLst>
          </a:prstGeom>
          <a:solidFill>
            <a:srgbClr val="EEF1F4"/>
          </a:solidFill>
          <a:ln>
            <a:noFill/>
          </a:ln>
        </p:spPr>
        <p:txBody>
          <a:bodyPr anchorCtr="0" anchor="t" bIns="364000" lIns="520000" spcFirstLastPara="1" rIns="520000" wrap="square" tIns="364000">
            <a:noAutofit/>
          </a:bodyPr>
          <a:lstStyle/>
          <a:p>
            <a:pPr indent="0" lvl="0" marL="0" marR="0" rtl="0" algn="l">
              <a:lnSpc>
                <a:spcPct val="126315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Montserrat SemiBold"/>
              <a:buNone/>
            </a:pPr>
            <a:r>
              <a:rPr b="1" i="0" lang="en-US" sz="1900" u="none" cap="none" strike="noStrike">
                <a:solidFill>
                  <a:srgbClr val="1A1A1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Two-level store (today’s dominant model, non-persistent)</a:t>
            </a:r>
            <a:endParaRPr/>
          </a:p>
          <a:p>
            <a:pPr indent="-380000" lvl="0" marL="380000" marR="0" rtl="0" algn="l">
              <a:lnSpc>
                <a:spcPct val="125714"/>
              </a:lnSpc>
              <a:spcBef>
                <a:spcPts val="350"/>
              </a:spcBef>
              <a:spcAft>
                <a:spcPts val="0"/>
              </a:spcAft>
              <a:buClr>
                <a:srgbClr val="1A1A1A"/>
              </a:buClr>
              <a:buSzPts val="1750"/>
              <a:buFont typeface="Arial"/>
              <a:buChar char="•"/>
            </a:pPr>
            <a:r>
              <a:rPr b="0" i="0" lang="en-US" sz="175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Data is either active (RAM) or stored (disk)</a:t>
            </a:r>
            <a:endParaRPr/>
          </a:p>
          <a:p>
            <a:pPr indent="-380000" lvl="0" marL="380000" marR="0" rtl="0" algn="l">
              <a:lnSpc>
                <a:spcPct val="125714"/>
              </a:lnSpc>
              <a:spcBef>
                <a:spcPts val="200"/>
              </a:spcBef>
              <a:spcAft>
                <a:spcPts val="0"/>
              </a:spcAft>
              <a:buClr>
                <a:srgbClr val="1A1A1A"/>
              </a:buClr>
              <a:buSzPts val="1750"/>
              <a:buFont typeface="Arial"/>
              <a:buChar char="•"/>
            </a:pPr>
            <a:r>
              <a:rPr b="0" i="0" lang="en-US" sz="175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Programmer manually moves data between levels</a:t>
            </a:r>
            <a:endParaRPr/>
          </a:p>
        </p:txBody>
      </p:sp>
      <p:sp>
        <p:nvSpPr>
          <p:cNvPr id="37" name="Google Shape;37;p5"/>
          <p:cNvSpPr/>
          <p:nvPr/>
        </p:nvSpPr>
        <p:spPr>
          <a:xfrm>
            <a:off x="9395375" y="3250000"/>
            <a:ext cx="7754700" cy="2090700"/>
          </a:xfrm>
          <a:prstGeom prst="roundRect">
            <a:avLst>
              <a:gd fmla="val 6000" name="adj"/>
            </a:avLst>
          </a:prstGeom>
          <a:solidFill>
            <a:srgbClr val="EEF1F4"/>
          </a:solidFill>
          <a:ln>
            <a:noFill/>
          </a:ln>
        </p:spPr>
        <p:txBody>
          <a:bodyPr anchorCtr="0" anchor="t" bIns="364000" lIns="520000" spcFirstLastPara="1" rIns="520000" wrap="square" tIns="364000">
            <a:noAutofit/>
          </a:bodyPr>
          <a:lstStyle/>
          <a:p>
            <a:pPr indent="0" lvl="0" marL="0" marR="0" rtl="0" algn="l">
              <a:lnSpc>
                <a:spcPct val="126315"/>
              </a:lnSpc>
              <a:spcBef>
                <a:spcPts val="0"/>
              </a:spcBef>
              <a:spcAft>
                <a:spcPts val="0"/>
              </a:spcAft>
              <a:buClr>
                <a:srgbClr val="2E8B16"/>
              </a:buClr>
              <a:buSzPts val="1900"/>
              <a:buFont typeface="Montserrat SemiBold"/>
              <a:buNone/>
            </a:pPr>
            <a:r>
              <a:rPr b="1" i="0" lang="en-US" sz="1900" u="none" cap="none" strike="noStrike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Consequences</a:t>
            </a:r>
            <a:endParaRPr>
              <a:solidFill>
                <a:schemeClr val="dk1"/>
              </a:solidFill>
            </a:endParaRPr>
          </a:p>
          <a:p>
            <a:pPr indent="-380000" lvl="0" marL="380000" marR="0" rtl="0" algn="l">
              <a:lnSpc>
                <a:spcPct val="125714"/>
              </a:lnSpc>
              <a:spcBef>
                <a:spcPts val="350"/>
              </a:spcBef>
              <a:spcAft>
                <a:spcPts val="0"/>
              </a:spcAft>
              <a:buClr>
                <a:srgbClr val="1A1A1A"/>
              </a:buClr>
              <a:buSzPts val="1750"/>
              <a:buFont typeface="Arial"/>
              <a:buChar char="•"/>
            </a:pPr>
            <a:r>
              <a:rPr b="0" i="0" lang="en-US" sz="175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Data loss</a:t>
            </a:r>
            <a:endParaRPr/>
          </a:p>
          <a:p>
            <a:pPr indent="-380000" lvl="0" marL="380000" marR="0" rtl="0" algn="l">
              <a:lnSpc>
                <a:spcPct val="125714"/>
              </a:lnSpc>
              <a:spcBef>
                <a:spcPts val="200"/>
              </a:spcBef>
              <a:spcAft>
                <a:spcPts val="0"/>
              </a:spcAft>
              <a:buClr>
                <a:srgbClr val="1A1A1A"/>
              </a:buClr>
              <a:buSzPts val="1750"/>
              <a:buFont typeface="Arial"/>
              <a:buChar char="•"/>
            </a:pPr>
            <a:r>
              <a:rPr b="0" i="0" lang="en-US" sz="175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I/O boilerplate (≈30% of code)</a:t>
            </a:r>
            <a:endParaRPr/>
          </a:p>
          <a:p>
            <a:pPr indent="-380000" lvl="0" marL="380000" marR="0" rtl="0" algn="l">
              <a:lnSpc>
                <a:spcPct val="125714"/>
              </a:lnSpc>
              <a:spcBef>
                <a:spcPts val="200"/>
              </a:spcBef>
              <a:spcAft>
                <a:spcPts val="0"/>
              </a:spcAft>
              <a:buClr>
                <a:srgbClr val="1A1A1A"/>
              </a:buClr>
              <a:buSzPts val="1750"/>
              <a:buFont typeface="Arial"/>
              <a:buChar char="•"/>
            </a:pPr>
            <a:r>
              <a:rPr b="0" i="0" lang="en-US" sz="175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Frequent initialization and configuration</a:t>
            </a:r>
            <a:endParaRPr/>
          </a:p>
        </p:txBody>
      </p:sp>
      <p:sp>
        <p:nvSpPr>
          <p:cNvPr id="38" name="Google Shape;38;p5"/>
          <p:cNvSpPr/>
          <p:nvPr/>
        </p:nvSpPr>
        <p:spPr>
          <a:xfrm>
            <a:off x="1095375" y="9470000"/>
            <a:ext cx="13500000" cy="48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3750"/>
              </a:lnSpc>
              <a:spcBef>
                <a:spcPts val="0"/>
              </a:spcBef>
              <a:spcAft>
                <a:spcPts val="0"/>
              </a:spcAft>
              <a:buClr>
                <a:srgbClr val="9AA3AB"/>
              </a:buClr>
              <a:buSzPts val="1600"/>
              <a:buFont typeface="IBM Plex Sans Medium"/>
              <a:buNone/>
            </a:pPr>
            <a:r>
              <a:rPr b="1" baseline="30000" i="0" lang="en-US" sz="1600" u="none" cap="none" strike="noStrike">
                <a:solidFill>
                  <a:srgbClr val="9AA3AB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1</a:t>
            </a:r>
            <a:r>
              <a:rPr b="1" baseline="30000" i="0" lang="en-US" sz="1600" u="none" cap="none" strike="noStrike">
                <a:solidFill>
                  <a:srgbClr val="9AA3AB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 </a:t>
            </a:r>
            <a:r>
              <a:rPr b="0" i="0" lang="en-US" sz="1600" u="none" cap="none" strike="noStrike">
                <a:solidFill>
                  <a:srgbClr val="9AA3AB"/>
                </a:solidFill>
                <a:latin typeface="IBM Plex Sans"/>
                <a:ea typeface="IBM Plex Sans"/>
                <a:cs typeface="IBM Plex Sans"/>
                <a:sym typeface="IBM Plex Sans"/>
              </a:rPr>
              <a:t>M. P. Atkinson, P. J. Bailey, K. J. Chisholm, W. P. Cockshott, R. Morrison. “PS-algol: A language for persistent programming”, 1983</a:t>
            </a:r>
            <a:endParaRPr b="0" i="0" sz="1600" u="none" cap="none" strike="noStrike">
              <a:solidFill>
                <a:srgbClr val="9AA3AB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0" lvl="0" marL="0" rtl="0" algn="l">
              <a:lnSpc>
                <a:spcPct val="93750"/>
              </a:lnSpc>
              <a:spcBef>
                <a:spcPts val="0"/>
              </a:spcBef>
              <a:spcAft>
                <a:spcPts val="0"/>
              </a:spcAft>
              <a:buClr>
                <a:srgbClr val="9AA3AB"/>
              </a:buClr>
              <a:buSzPts val="1600"/>
              <a:buFont typeface="IBM Plex Sans Medium"/>
              <a:buNone/>
            </a:pPr>
            <a:r>
              <a:rPr b="1" baseline="30000" lang="en-US" sz="1600">
                <a:solidFill>
                  <a:srgbClr val="9AA3AB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2</a:t>
            </a:r>
            <a:r>
              <a:rPr lang="en-US" sz="1600">
                <a:solidFill>
                  <a:srgbClr val="9AA3AB"/>
                </a:solidFill>
                <a:latin typeface="IBM Plex Sans"/>
                <a:ea typeface="IBM Plex Sans"/>
                <a:cs typeface="IBM Plex Sans"/>
                <a:sym typeface="IBM Plex Sans"/>
              </a:rPr>
              <a:t>R. Morrison, M. P. Atkinson. “Persistent Languages and Architectures”, 1990</a:t>
            </a:r>
            <a:endParaRPr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93750"/>
              </a:lnSpc>
              <a:spcBef>
                <a:spcPts val="0"/>
              </a:spcBef>
              <a:spcAft>
                <a:spcPts val="0"/>
              </a:spcAft>
              <a:buClr>
                <a:srgbClr val="9AA3AB"/>
              </a:buClr>
              <a:buSzPts val="1600"/>
              <a:buFont typeface="IBM Plex Sans Medium"/>
              <a:buNone/>
            </a:pPr>
            <a:r>
              <a:rPr b="0" i="0" lang="en-US" sz="1100" u="none" cap="none" strike="noStrike">
                <a:solidFill>
                  <a:srgbClr val="9AA3AB"/>
                </a:solidFill>
                <a:latin typeface="IBM Plex Sans"/>
                <a:ea typeface="IBM Plex Sans"/>
                <a:cs typeface="IBM Plex Sans"/>
                <a:sym typeface="IBM Plex Sans"/>
              </a:rPr>
              <a:t>.</a:t>
            </a:r>
            <a:endParaRPr/>
          </a:p>
        </p:txBody>
      </p:sp>
      <p:pic>
        <p:nvPicPr>
          <p:cNvPr id="39" name="Google Shape;39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900000" y="780000"/>
            <a:ext cx="2480000" cy="720500"/>
          </a:xfrm>
          <a:prstGeom prst="rect">
            <a:avLst/>
          </a:prstGeom>
          <a:noFill/>
          <a:ln>
            <a:noFill/>
          </a:ln>
        </p:spPr>
      </p:pic>
      <p:sp>
        <p:nvSpPr>
          <p:cNvPr id="40" name="Google Shape;40;p5"/>
          <p:cNvSpPr/>
          <p:nvPr/>
        </p:nvSpPr>
        <p:spPr>
          <a:xfrm>
            <a:off x="16400000" y="9550000"/>
            <a:ext cx="15000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A3AB"/>
              </a:buClr>
              <a:buSzPts val="1300"/>
              <a:buFont typeface="IBM Plex Mono"/>
              <a:buNone/>
            </a:pPr>
            <a:r>
              <a:rPr lang="en-US" sz="1300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3</a:t>
            </a:r>
            <a:r>
              <a:rPr b="0" i="0" lang="en-US" sz="1300" u="none" cap="none" strike="noStrike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/</a:t>
            </a:r>
            <a:r>
              <a:rPr lang="en-US" sz="1300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  <a:endParaRPr/>
          </a:p>
        </p:txBody>
      </p:sp>
      <p:sp>
        <p:nvSpPr>
          <p:cNvPr id="41" name="Google Shape;41;p5"/>
          <p:cNvSpPr/>
          <p:nvPr/>
        </p:nvSpPr>
        <p:spPr>
          <a:xfrm>
            <a:off x="1095375" y="5590700"/>
            <a:ext cx="7700100" cy="3140700"/>
          </a:xfrm>
          <a:prstGeom prst="roundRect">
            <a:avLst>
              <a:gd fmla="val 6000" name="adj"/>
            </a:avLst>
          </a:prstGeom>
          <a:solidFill>
            <a:srgbClr val="EEF1F4"/>
          </a:solidFill>
          <a:ln>
            <a:noFill/>
          </a:ln>
        </p:spPr>
        <p:txBody>
          <a:bodyPr anchorCtr="0" anchor="t" bIns="392000" lIns="560000" spcFirstLastPara="1" rIns="560000" wrap="square" tIns="39200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000"/>
              <a:buFont typeface="Montserrat SemiBold"/>
              <a:buNone/>
            </a:pPr>
            <a:r>
              <a:rPr b="1" i="0" lang="en-US" sz="2000" u="none" cap="none" strike="noStrike">
                <a:solidFill>
                  <a:srgbClr val="2E8B16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Alternative: the environment manages persistence</a:t>
            </a:r>
            <a:endParaRPr>
              <a:solidFill>
                <a:srgbClr val="2E8B16"/>
              </a:solidFill>
            </a:endParaRPr>
          </a:p>
          <a:p>
            <a:pPr indent="0" lvl="0" marL="0" marR="0" rtl="0" algn="l">
              <a:lnSpc>
                <a:spcPct val="126315"/>
              </a:lnSpc>
              <a:spcBef>
                <a:spcPts val="450"/>
              </a:spcBef>
              <a:spcAft>
                <a:spcPts val="0"/>
              </a:spcAft>
              <a:buClr>
                <a:srgbClr val="2E8B16"/>
              </a:buClr>
              <a:buSzPts val="1900"/>
              <a:buFont typeface="Montserrat SemiBold"/>
              <a:buNone/>
            </a:pPr>
            <a:r>
              <a:rPr b="1" lang="en-US" sz="19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Orthogonal Persistence </a:t>
            </a:r>
            <a:r>
              <a:rPr b="1" i="0" lang="en-US" sz="1900" u="none" cap="none" strike="noStrike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Principles</a:t>
            </a:r>
            <a:r>
              <a:rPr b="1" baseline="30000" i="0" lang="en-US" sz="1900" u="none" cap="none" strike="noStrike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2</a:t>
            </a:r>
            <a:endParaRPr b="1" baseline="30000" i="0" sz="1100" u="none" cap="none" strike="noStrike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-396825" lvl="0" marL="400000" marR="0" rtl="0" algn="l">
              <a:lnSpc>
                <a:spcPct val="124324"/>
              </a:lnSpc>
              <a:spcBef>
                <a:spcPts val="300"/>
              </a:spcBef>
              <a:spcAft>
                <a:spcPts val="0"/>
              </a:spcAft>
              <a:buClr>
                <a:srgbClr val="1A1A1A"/>
              </a:buClr>
              <a:buSzPts val="1800"/>
              <a:buFont typeface="Calibri"/>
              <a:buAutoNum type="arabicPeriod"/>
            </a:pPr>
            <a:r>
              <a:rPr b="0" i="0" lang="en-US" sz="180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Independence</a:t>
            </a:r>
            <a:endParaRPr sz="1800"/>
          </a:p>
          <a:p>
            <a:pPr indent="-396825" lvl="0" marL="400000" marR="0" rtl="0" algn="l">
              <a:lnSpc>
                <a:spcPct val="124324"/>
              </a:lnSpc>
              <a:spcBef>
                <a:spcPts val="180"/>
              </a:spcBef>
              <a:spcAft>
                <a:spcPts val="0"/>
              </a:spcAft>
              <a:buClr>
                <a:srgbClr val="1A1A1A"/>
              </a:buClr>
              <a:buSzPts val="1800"/>
              <a:buFont typeface="Calibri"/>
              <a:buAutoNum type="arabicPeriod"/>
            </a:pPr>
            <a:r>
              <a:rPr b="0" i="0" lang="en-US" sz="180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Data type orthogonality</a:t>
            </a:r>
            <a:endParaRPr sz="1800"/>
          </a:p>
          <a:p>
            <a:pPr indent="-396825" lvl="0" marL="400000" marR="0" rtl="0" algn="l">
              <a:lnSpc>
                <a:spcPct val="124324"/>
              </a:lnSpc>
              <a:spcBef>
                <a:spcPts val="180"/>
              </a:spcBef>
              <a:spcAft>
                <a:spcPts val="0"/>
              </a:spcAft>
              <a:buClr>
                <a:srgbClr val="1A1A1A"/>
              </a:buClr>
              <a:buSzPts val="1800"/>
              <a:buFont typeface="Calibri"/>
              <a:buAutoNum type="arabicPeriod"/>
            </a:pPr>
            <a:r>
              <a:rPr b="0" i="0" lang="en-US" sz="180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Identification</a:t>
            </a:r>
            <a:endParaRPr sz="1800"/>
          </a:p>
        </p:txBody>
      </p:sp>
      <p:sp>
        <p:nvSpPr>
          <p:cNvPr id="42" name="Google Shape;42;p5"/>
          <p:cNvSpPr/>
          <p:nvPr/>
        </p:nvSpPr>
        <p:spPr>
          <a:xfrm>
            <a:off x="9395375" y="5590650"/>
            <a:ext cx="7754700" cy="3140700"/>
          </a:xfrm>
          <a:prstGeom prst="roundRect">
            <a:avLst>
              <a:gd fmla="val 6000" name="adj"/>
            </a:avLst>
          </a:prstGeom>
          <a:solidFill>
            <a:srgbClr val="EEF1F4"/>
          </a:solidFill>
          <a:ln>
            <a:noFill/>
          </a:ln>
        </p:spPr>
        <p:txBody>
          <a:bodyPr anchorCtr="0" anchor="t" bIns="364000" lIns="520000" spcFirstLastPara="1" rIns="520000" wrap="square" tIns="364000">
            <a:noAutofit/>
          </a:bodyPr>
          <a:lstStyle/>
          <a:p>
            <a:pPr indent="0" lvl="0" marL="0" rtl="0" algn="l">
              <a:lnSpc>
                <a:spcPct val="126087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Montserrat SemiBold"/>
              <a:buNone/>
            </a:pPr>
            <a:r>
              <a:rPr b="1" lang="en-US" sz="2000">
                <a:solidFill>
                  <a:srgbClr val="2E8B16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Result</a:t>
            </a:r>
            <a:endParaRPr sz="1100">
              <a:solidFill>
                <a:srgbClr val="2E8B16"/>
              </a:solidFill>
            </a:endParaRPr>
          </a:p>
          <a:p>
            <a:pPr indent="0" lvl="0" marL="0" rtl="0" algn="l">
              <a:lnSpc>
                <a:spcPct val="131707"/>
              </a:lnSpc>
              <a:spcBef>
                <a:spcPts val="450"/>
              </a:spcBef>
              <a:spcAft>
                <a:spcPts val="0"/>
              </a:spcAft>
              <a:buClr>
                <a:schemeClr val="lt1"/>
              </a:buClr>
              <a:buSzPts val="2050"/>
              <a:buFont typeface="IBM Plex Sans Medium"/>
              <a:buNone/>
            </a:pPr>
            <a:r>
              <a:rPr lang="en-US" sz="18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No two-level store drawbacks, and improved disk bandwidth utilization</a:t>
            </a:r>
            <a:endParaRPr sz="1800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6"/>
          <p:cNvSpPr/>
          <p:nvPr/>
        </p:nvSpPr>
        <p:spPr>
          <a:xfrm>
            <a:off x="1095375" y="900000"/>
            <a:ext cx="13000000" cy="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4285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800"/>
              <a:buFont typeface="Montserrat"/>
              <a:buNone/>
            </a:pPr>
            <a:r>
              <a:rPr b="1" lang="en-US" sz="2800">
                <a:solidFill>
                  <a:srgbClr val="1A1A1A"/>
                </a:solidFill>
                <a:latin typeface="Montserrat"/>
                <a:ea typeface="Montserrat"/>
                <a:cs typeface="Montserrat"/>
                <a:sym typeface="Montserrat"/>
              </a:rPr>
              <a:t>PhantomOS &amp; </a:t>
            </a:r>
            <a:r>
              <a:rPr b="1" i="0" lang="en-US" sz="2800" u="none" cap="none" strike="noStrike">
                <a:solidFill>
                  <a:srgbClr val="1A1A1A"/>
                </a:solidFill>
                <a:latin typeface="Montserrat"/>
                <a:ea typeface="Montserrat"/>
                <a:cs typeface="Montserrat"/>
                <a:sym typeface="Montserrat"/>
              </a:rPr>
              <a:t>Genode</a:t>
            </a:r>
            <a:endParaRPr/>
          </a:p>
        </p:txBody>
      </p:sp>
      <p:sp>
        <p:nvSpPr>
          <p:cNvPr id="48" name="Google Shape;48;p6"/>
          <p:cNvSpPr/>
          <p:nvPr/>
        </p:nvSpPr>
        <p:spPr>
          <a:xfrm>
            <a:off x="1095375" y="6105385"/>
            <a:ext cx="8300100" cy="2638500"/>
          </a:xfrm>
          <a:prstGeom prst="roundRect">
            <a:avLst>
              <a:gd fmla="val 6000" name="adj"/>
            </a:avLst>
          </a:prstGeom>
          <a:solidFill>
            <a:srgbClr val="40BA21"/>
          </a:solidFill>
          <a:ln>
            <a:noFill/>
          </a:ln>
        </p:spPr>
        <p:txBody>
          <a:bodyPr anchorCtr="0" anchor="ctr" bIns="455000" lIns="650000" spcFirstLastPara="1" rIns="650000" wrap="square" tIns="455000">
            <a:noAutofit/>
          </a:bodyPr>
          <a:lstStyle/>
          <a:p>
            <a:pPr indent="0" lvl="0" marL="0" marR="0" rtl="0" algn="l">
              <a:lnSpc>
                <a:spcPct val="1318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IBM Plex Sans Medium"/>
              <a:buNone/>
            </a:pPr>
            <a:r>
              <a:rPr b="0" i="0" lang="en-US" sz="2000" u="none" cap="none" strike="noStrike">
                <a:solidFill>
                  <a:srgbClr val="FFFFFF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PhantomOS ported to the</a:t>
            </a:r>
            <a:r>
              <a:rPr b="0" i="0" lang="en-US" sz="2200" u="none" cap="none" strike="noStrike">
                <a:solidFill>
                  <a:srgbClr val="FFFFFF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 </a:t>
            </a:r>
            <a:r>
              <a:rPr b="1" i="0" lang="en-US" sz="2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Genode OS C++ framework</a:t>
            </a:r>
            <a:r>
              <a:rPr baseline="30000" i="0" lang="en-US" sz="2100" u="none" cap="none" strike="noStrike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3</a:t>
            </a:r>
            <a:endParaRPr b="1" baseline="30000" i="0" sz="1000" u="none" cap="none" strike="noStrike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9" name="Google Shape;49;p6"/>
          <p:cNvSpPr/>
          <p:nvPr/>
        </p:nvSpPr>
        <p:spPr>
          <a:xfrm>
            <a:off x="9800000" y="6105375"/>
            <a:ext cx="7350000" cy="2638500"/>
          </a:xfrm>
          <a:prstGeom prst="roundRect">
            <a:avLst>
              <a:gd fmla="val 6000" name="adj"/>
            </a:avLst>
          </a:prstGeom>
          <a:solidFill>
            <a:srgbClr val="EEF1F4"/>
          </a:solidFill>
          <a:ln>
            <a:noFill/>
          </a:ln>
        </p:spPr>
        <p:txBody>
          <a:bodyPr anchorCtr="0" anchor="ctr" bIns="406000" lIns="580000" spcFirstLastPara="1" rIns="580000" wrap="square" tIns="406000">
            <a:noAutofit/>
          </a:bodyPr>
          <a:lstStyle/>
          <a:p>
            <a:pPr indent="0" lvl="0" marL="0" marR="0" rtl="0" algn="l">
              <a:lnSpc>
                <a:spcPct val="128205"/>
              </a:lnSpc>
              <a:spcBef>
                <a:spcPts val="0"/>
              </a:spcBef>
              <a:spcAft>
                <a:spcPts val="0"/>
              </a:spcAft>
              <a:buClr>
                <a:srgbClr val="2E8B16"/>
              </a:buClr>
              <a:buSzPts val="1950"/>
              <a:buFont typeface="Montserrat SemiBold"/>
              <a:buNone/>
            </a:pPr>
            <a:r>
              <a:rPr b="1" i="0" lang="en-US" sz="1950" u="none" cap="none" strike="noStrike">
                <a:solidFill>
                  <a:srgbClr val="2E8B16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Why Genode</a:t>
            </a:r>
            <a:endParaRPr/>
          </a:p>
          <a:p>
            <a:pPr indent="-400000" lvl="0" marL="400000" marR="0" rtl="0" algn="l">
              <a:lnSpc>
                <a:spcPct val="127027"/>
              </a:lnSpc>
              <a:spcBef>
                <a:spcPts val="350"/>
              </a:spcBef>
              <a:spcAft>
                <a:spcPts val="0"/>
              </a:spcAft>
              <a:buClr>
                <a:srgbClr val="1A1A1A"/>
              </a:buClr>
              <a:buSzPts val="1850"/>
              <a:buFont typeface="Arial"/>
              <a:buChar char="•"/>
            </a:pPr>
            <a:r>
              <a:rPr b="0" i="0" lang="en-US" sz="185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Proven microkernels: NOVA, seL4, Fiasco.OC</a:t>
            </a:r>
            <a:endParaRPr/>
          </a:p>
          <a:p>
            <a:pPr indent="-400000" lvl="0" marL="400000" marR="0" rtl="0" algn="l">
              <a:lnSpc>
                <a:spcPct val="127027"/>
              </a:lnSpc>
              <a:spcBef>
                <a:spcPts val="260"/>
              </a:spcBef>
              <a:spcAft>
                <a:spcPts val="0"/>
              </a:spcAft>
              <a:buClr>
                <a:srgbClr val="1A1A1A"/>
              </a:buClr>
              <a:buSzPts val="1850"/>
              <a:buFont typeface="Arial"/>
              <a:buChar char="•"/>
            </a:pPr>
            <a:r>
              <a:rPr b="0" i="0" lang="en-US" sz="185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Capability-based security</a:t>
            </a:r>
            <a:endParaRPr/>
          </a:p>
          <a:p>
            <a:pPr indent="-400000" lvl="0" marL="400000" marR="0" rtl="0" algn="l">
              <a:lnSpc>
                <a:spcPct val="127027"/>
              </a:lnSpc>
              <a:spcBef>
                <a:spcPts val="260"/>
              </a:spcBef>
              <a:spcAft>
                <a:spcPts val="0"/>
              </a:spcAft>
              <a:buClr>
                <a:srgbClr val="1A1A1A"/>
              </a:buClr>
              <a:buSzPts val="1850"/>
              <a:buFont typeface="Arial"/>
              <a:buChar char="•"/>
            </a:pPr>
            <a:r>
              <a:rPr b="0" i="0" lang="en-US" sz="185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Minimal trusted computing base (TCB)</a:t>
            </a:r>
            <a:endParaRPr b="0" i="0" sz="1850" u="none" cap="none" strike="noStrike">
              <a:solidFill>
                <a:srgbClr val="1A1A1A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400000" lvl="0" marL="400000" marR="0" rtl="0" algn="l">
              <a:lnSpc>
                <a:spcPct val="127027"/>
              </a:lnSpc>
              <a:spcBef>
                <a:spcPts val="260"/>
              </a:spcBef>
              <a:spcAft>
                <a:spcPts val="0"/>
              </a:spcAft>
              <a:buClr>
                <a:srgbClr val="1A1A1A"/>
              </a:buClr>
              <a:buSzPts val="1850"/>
              <a:buFont typeface="IBM Plex Sans"/>
              <a:buChar char="•"/>
            </a:pPr>
            <a:r>
              <a:rPr lang="en-US" sz="185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Support modern hardware</a:t>
            </a:r>
            <a:endParaRPr sz="1850">
              <a:solidFill>
                <a:srgbClr val="1A1A1A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50" name="Google Shape;50;p6"/>
          <p:cNvSpPr/>
          <p:nvPr/>
        </p:nvSpPr>
        <p:spPr>
          <a:xfrm>
            <a:off x="1095375" y="9171875"/>
            <a:ext cx="13500000" cy="778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3750"/>
              </a:lnSpc>
              <a:spcBef>
                <a:spcPts val="0"/>
              </a:spcBef>
              <a:spcAft>
                <a:spcPts val="0"/>
              </a:spcAft>
              <a:buClr>
                <a:srgbClr val="9AA3AB"/>
              </a:buClr>
              <a:buSzPts val="1600"/>
              <a:buFont typeface="IBM Plex Sans Medium"/>
              <a:buNone/>
            </a:pPr>
            <a:r>
              <a:rPr b="1" baseline="30000" lang="en-US" sz="1600">
                <a:solidFill>
                  <a:srgbClr val="9AA3AB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1 </a:t>
            </a:r>
            <a:r>
              <a:rPr lang="en-US" sz="1600">
                <a:solidFill>
                  <a:srgbClr val="9AA3AB"/>
                </a:solidFill>
                <a:latin typeface="IBM Plex Sans"/>
                <a:ea typeface="IBM Plex Sans"/>
                <a:cs typeface="IBM Plex Sans"/>
                <a:sym typeface="IBM Plex Sans"/>
              </a:rPr>
              <a:t>http://phantomos.org/</a:t>
            </a:r>
            <a:endParaRPr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93750"/>
              </a:lnSpc>
              <a:spcBef>
                <a:spcPts val="0"/>
              </a:spcBef>
              <a:spcAft>
                <a:spcPts val="0"/>
              </a:spcAft>
              <a:buClr>
                <a:srgbClr val="9AA3AB"/>
              </a:buClr>
              <a:buSzPts val="1600"/>
              <a:buFont typeface="IBM Plex Sans Medium"/>
              <a:buNone/>
            </a:pPr>
            <a:r>
              <a:rPr b="1" baseline="30000" lang="en-US" sz="1600">
                <a:solidFill>
                  <a:srgbClr val="9AA3AB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2 </a:t>
            </a:r>
            <a:r>
              <a:rPr lang="en-US" sz="1600">
                <a:solidFill>
                  <a:srgbClr val="9AA3AB"/>
                </a:solidFill>
                <a:latin typeface="IBM Plex Sans"/>
                <a:ea typeface="IBM Plex Sans"/>
                <a:cs typeface="IBM Plex Sans"/>
                <a:sym typeface="IBM Plex Sans"/>
              </a:rPr>
              <a:t>D. Zavalishin. PhantomOS, 2010</a:t>
            </a:r>
            <a:endParaRPr sz="1600">
              <a:solidFill>
                <a:srgbClr val="9AA3AB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0" lvl="0" marL="0" marR="0" rtl="0" algn="l">
              <a:lnSpc>
                <a:spcPct val="93750"/>
              </a:lnSpc>
              <a:spcBef>
                <a:spcPts val="0"/>
              </a:spcBef>
              <a:spcAft>
                <a:spcPts val="0"/>
              </a:spcAft>
              <a:buClr>
                <a:srgbClr val="9AA3AB"/>
              </a:buClr>
              <a:buSzPts val="1600"/>
              <a:buFont typeface="IBM Plex Sans Medium"/>
              <a:buNone/>
            </a:pPr>
            <a:r>
              <a:rPr b="1" baseline="30000" lang="en-US" sz="1600">
                <a:solidFill>
                  <a:srgbClr val="9AA3AB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3</a:t>
            </a:r>
            <a:r>
              <a:rPr b="1" baseline="30000" i="0" lang="en-US" sz="1600" u="none" cap="none" strike="noStrike">
                <a:solidFill>
                  <a:srgbClr val="9AA3AB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 </a:t>
            </a:r>
            <a:r>
              <a:rPr b="0" i="0" lang="en-US" sz="1600" u="none" cap="none" strike="noStrike">
                <a:solidFill>
                  <a:srgbClr val="9AA3AB"/>
                </a:solidFill>
                <a:latin typeface="IBM Plex Sans"/>
                <a:ea typeface="IBM Plex Sans"/>
                <a:cs typeface="IBM Plex Sans"/>
                <a:sym typeface="IBM Plex Sans"/>
              </a:rPr>
              <a:t>https://genode.org/</a:t>
            </a:r>
            <a:endParaRPr/>
          </a:p>
        </p:txBody>
      </p:sp>
      <p:pic>
        <p:nvPicPr>
          <p:cNvPr id="51" name="Google Shape;51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900000" y="780000"/>
            <a:ext cx="2480000" cy="720500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6"/>
          <p:cNvSpPr/>
          <p:nvPr/>
        </p:nvSpPr>
        <p:spPr>
          <a:xfrm>
            <a:off x="16400000" y="9550000"/>
            <a:ext cx="15000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A3AB"/>
              </a:buClr>
              <a:buSzPts val="1300"/>
              <a:buFont typeface="IBM Plex Mono"/>
              <a:buNone/>
            </a:pPr>
            <a:r>
              <a:rPr lang="en-US" sz="1300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4</a:t>
            </a:r>
            <a:r>
              <a:rPr b="0" i="0" lang="en-US" sz="1300" u="none" cap="none" strike="noStrike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/</a:t>
            </a:r>
            <a:r>
              <a:rPr lang="en-US" sz="1300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  <a:endParaRPr/>
          </a:p>
        </p:txBody>
      </p:sp>
      <p:sp>
        <p:nvSpPr>
          <p:cNvPr id="53" name="Google Shape;53;p6"/>
          <p:cNvSpPr/>
          <p:nvPr/>
        </p:nvSpPr>
        <p:spPr>
          <a:xfrm>
            <a:off x="1095375" y="1942600"/>
            <a:ext cx="8300100" cy="3953700"/>
          </a:xfrm>
          <a:prstGeom prst="roundRect">
            <a:avLst>
              <a:gd fmla="val 6000" name="adj"/>
            </a:avLst>
          </a:prstGeom>
          <a:solidFill>
            <a:srgbClr val="40BA21"/>
          </a:solidFill>
          <a:ln>
            <a:noFill/>
          </a:ln>
        </p:spPr>
        <p:txBody>
          <a:bodyPr anchorCtr="0" anchor="ctr" bIns="455000" lIns="650000" spcFirstLastPara="1" rIns="650000" wrap="square" tIns="455000">
            <a:noAutofit/>
          </a:bodyPr>
          <a:lstStyle/>
          <a:p>
            <a:pPr indent="0" lvl="0" marL="0" rtl="0" algn="l">
              <a:lnSpc>
                <a:spcPct val="123809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 SemiBold"/>
              <a:buNone/>
            </a:pPr>
            <a:r>
              <a:rPr b="1" lang="en-US" sz="2100">
                <a:solidFill>
                  <a:schemeClr val="lt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PhantomOS</a:t>
            </a:r>
            <a:r>
              <a:rPr b="1" baseline="30000" lang="en-US" sz="2100">
                <a:solidFill>
                  <a:schemeClr val="lt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1</a:t>
            </a:r>
            <a:r>
              <a:rPr lang="en-US" sz="20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rPr>
              <a:t> is a non-Unix-like OS implementing orthogonal persistence</a:t>
            </a:r>
            <a:r>
              <a:rPr baseline="30000" lang="en-US" sz="20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rPr>
              <a:t>2</a:t>
            </a:r>
            <a:endParaRPr b="1" baseline="30000" sz="1100">
              <a:solidFill>
                <a:schemeClr val="lt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0" lvl="0" marL="0" marR="0" rtl="0" algn="l">
              <a:lnSpc>
                <a:spcPct val="1318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IBM Plex Sans Medium"/>
              <a:buNone/>
            </a:pPr>
            <a:r>
              <a:t/>
            </a:r>
            <a:endParaRPr sz="2200">
              <a:solidFill>
                <a:srgbClr val="FFFFFF"/>
              </a:solidFill>
              <a:latin typeface="IBM Plex Sans Medium"/>
              <a:ea typeface="IBM Plex Sans Medium"/>
              <a:cs typeface="IBM Plex Sans Medium"/>
              <a:sym typeface="IBM Plex Sans Medium"/>
            </a:endParaRPr>
          </a:p>
        </p:txBody>
      </p:sp>
      <p:sp>
        <p:nvSpPr>
          <p:cNvPr id="54" name="Google Shape;54;p6"/>
          <p:cNvSpPr/>
          <p:nvPr/>
        </p:nvSpPr>
        <p:spPr>
          <a:xfrm>
            <a:off x="9800000" y="1942610"/>
            <a:ext cx="7350000" cy="3953700"/>
          </a:xfrm>
          <a:prstGeom prst="roundRect">
            <a:avLst>
              <a:gd fmla="val 6000" name="adj"/>
            </a:avLst>
          </a:prstGeom>
          <a:solidFill>
            <a:srgbClr val="EEF1F4"/>
          </a:solidFill>
          <a:ln>
            <a:noFill/>
          </a:ln>
        </p:spPr>
        <p:txBody>
          <a:bodyPr anchorCtr="0" anchor="ctr" bIns="406000" lIns="580000" spcFirstLastPara="1" rIns="580000" wrap="square" tIns="406000">
            <a:noAutofit/>
          </a:bodyPr>
          <a:lstStyle/>
          <a:p>
            <a:pPr indent="0" lvl="0" marL="0" rtl="0" algn="l">
              <a:lnSpc>
                <a:spcPct val="1282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50">
                <a:solidFill>
                  <a:srgbClr val="2E8B16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PhantomOS features</a:t>
            </a:r>
            <a:endParaRPr>
              <a:solidFill>
                <a:schemeClr val="dk1"/>
              </a:solidFill>
            </a:endParaRPr>
          </a:p>
          <a:p>
            <a:pPr indent="-346075" lvl="0" marL="457200" rtl="0" algn="l">
              <a:lnSpc>
                <a:spcPct val="127027"/>
              </a:lnSpc>
              <a:spcBef>
                <a:spcPts val="350"/>
              </a:spcBef>
              <a:spcAft>
                <a:spcPts val="0"/>
              </a:spcAft>
              <a:buClr>
                <a:srgbClr val="1A1A1A"/>
              </a:buClr>
              <a:buSzPts val="1850"/>
              <a:buChar char="•"/>
            </a:pPr>
            <a:r>
              <a:rPr lang="en-US" sz="185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Phantom Virtual Machine (PVM): bytecode VM of a persistent language</a:t>
            </a:r>
            <a:endParaRPr sz="1850">
              <a:solidFill>
                <a:srgbClr val="1A1A1A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346075" lvl="0" marL="457200" rtl="0" algn="l">
              <a:lnSpc>
                <a:spcPct val="127027"/>
              </a:lnSpc>
              <a:spcBef>
                <a:spcPts val="350"/>
              </a:spcBef>
              <a:spcAft>
                <a:spcPts val="0"/>
              </a:spcAft>
              <a:buClr>
                <a:srgbClr val="1A1A1A"/>
              </a:buClr>
              <a:buSzPts val="1850"/>
              <a:buChar char="•"/>
            </a:pPr>
            <a:r>
              <a:rPr lang="en-US" sz="185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Simplified POSIX layer (non-persistent)</a:t>
            </a:r>
            <a:endParaRPr>
              <a:solidFill>
                <a:schemeClr val="dk1"/>
              </a:solidFill>
            </a:endParaRPr>
          </a:p>
          <a:p>
            <a:pPr indent="-346075" lvl="0" marL="457200" rtl="0" algn="l">
              <a:lnSpc>
                <a:spcPct val="127027"/>
              </a:lnSpc>
              <a:spcBef>
                <a:spcPts val="240"/>
              </a:spcBef>
              <a:spcAft>
                <a:spcPts val="0"/>
              </a:spcAft>
              <a:buClr>
                <a:srgbClr val="1A1A1A"/>
              </a:buClr>
              <a:buSzPts val="1850"/>
              <a:buChar char="•"/>
            </a:pPr>
            <a:r>
              <a:rPr lang="en-US" sz="185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Periodical snapshots via </a:t>
            </a:r>
            <a:r>
              <a:rPr b="1" lang="en-US" sz="185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Copy-on-Write</a:t>
            </a:r>
            <a:r>
              <a:rPr lang="en-US" sz="185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 (implementation of persistence)</a:t>
            </a:r>
            <a:endParaRPr sz="1850">
              <a:solidFill>
                <a:srgbClr val="1A1A1A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346075" lvl="0" marL="457200" rtl="0" algn="l">
              <a:lnSpc>
                <a:spcPct val="127027"/>
              </a:lnSpc>
              <a:spcBef>
                <a:spcPts val="240"/>
              </a:spcBef>
              <a:spcAft>
                <a:spcPts val="0"/>
              </a:spcAft>
              <a:buClr>
                <a:srgbClr val="1A1A1A"/>
              </a:buClr>
              <a:buSzPts val="1850"/>
              <a:buChar char="•"/>
            </a:pPr>
            <a:r>
              <a:rPr lang="en-US" sz="185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Changed pages written to disk (incremental)</a:t>
            </a:r>
            <a:endParaRPr>
              <a:solidFill>
                <a:schemeClr val="dk1"/>
              </a:solidFill>
            </a:endParaRPr>
          </a:p>
          <a:p>
            <a:pPr indent="-346075" lvl="0" marL="457200" rtl="0" algn="l">
              <a:lnSpc>
                <a:spcPct val="127027"/>
              </a:lnSpc>
              <a:spcBef>
                <a:spcPts val="240"/>
              </a:spcBef>
              <a:spcAft>
                <a:spcPts val="0"/>
              </a:spcAft>
              <a:buClr>
                <a:srgbClr val="1A1A1A"/>
              </a:buClr>
              <a:buSzPts val="1850"/>
              <a:buChar char="•"/>
            </a:pPr>
            <a:r>
              <a:rPr lang="en-US" sz="185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Programs temporarily suspended during snapshot preparation</a:t>
            </a:r>
            <a:endParaRPr b="1" sz="1950">
              <a:solidFill>
                <a:srgbClr val="2E8B16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7"/>
          <p:cNvSpPr/>
          <p:nvPr/>
        </p:nvSpPr>
        <p:spPr>
          <a:xfrm>
            <a:off x="1095375" y="900000"/>
            <a:ext cx="13000000" cy="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4285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800"/>
              <a:buFont typeface="Montserrat"/>
              <a:buNone/>
            </a:pPr>
            <a:r>
              <a:rPr b="1" lang="en-US" sz="2800">
                <a:solidFill>
                  <a:srgbClr val="1A1A1A"/>
                </a:solidFill>
                <a:latin typeface="Montserrat"/>
                <a:ea typeface="Montserrat"/>
                <a:cs typeface="Montserrat"/>
                <a:sym typeface="Montserrat"/>
              </a:rPr>
              <a:t>Snapshot mechanism &amp; </a:t>
            </a:r>
            <a:r>
              <a:rPr b="1" lang="en-US" sz="2800">
                <a:solidFill>
                  <a:srgbClr val="1A1A1A"/>
                </a:solidFill>
                <a:latin typeface="Montserrat"/>
                <a:ea typeface="Montserrat"/>
                <a:cs typeface="Montserrat"/>
                <a:sym typeface="Montserrat"/>
              </a:rPr>
              <a:t>Problem Statement</a:t>
            </a:r>
            <a:endParaRPr b="1" sz="2800">
              <a:solidFill>
                <a:srgbClr val="1A1A1A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0" name="Google Shape;60;p7"/>
          <p:cNvSpPr/>
          <p:nvPr/>
        </p:nvSpPr>
        <p:spPr>
          <a:xfrm>
            <a:off x="1095375" y="1850000"/>
            <a:ext cx="16050000" cy="1150000"/>
          </a:xfrm>
          <a:prstGeom prst="roundRect">
            <a:avLst>
              <a:gd fmla="val 6000" name="adj"/>
            </a:avLst>
          </a:prstGeom>
          <a:solidFill>
            <a:srgbClr val="40BA21"/>
          </a:solidFill>
          <a:ln>
            <a:noFill/>
          </a:ln>
        </p:spPr>
        <p:txBody>
          <a:bodyPr anchorCtr="0" anchor="ctr" bIns="385000" lIns="550000" spcFirstLastPara="1" rIns="550000" wrap="square" tIns="385000">
            <a:noAutofit/>
          </a:bodyPr>
          <a:lstStyle/>
          <a:p>
            <a:pPr indent="0" lvl="0" marL="0" marR="0" rtl="0" algn="l">
              <a:lnSpc>
                <a:spcPct val="123809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Montserrat SemiBold"/>
              <a:buNone/>
            </a:pPr>
            <a:r>
              <a:rPr b="1" i="0" lang="en-US" sz="210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Snapper</a:t>
            </a:r>
            <a:r>
              <a:rPr b="1" baseline="30000" i="0" lang="en-US" sz="210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1</a:t>
            </a:r>
            <a:r>
              <a:rPr b="0" i="0" lang="en-US" sz="20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 is a file-system-based transactional snapshot mechanism</a:t>
            </a:r>
            <a:r>
              <a:rPr b="0" baseline="30000" i="0" lang="en-US" sz="20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2</a:t>
            </a:r>
            <a:endParaRPr b="1" baseline="30000" i="0" sz="1100" u="none" cap="none" strike="noStrike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61" name="Google Shape;61;p7"/>
          <p:cNvSpPr/>
          <p:nvPr/>
        </p:nvSpPr>
        <p:spPr>
          <a:xfrm>
            <a:off x="1095375" y="3250000"/>
            <a:ext cx="7700100" cy="2590500"/>
          </a:xfrm>
          <a:prstGeom prst="roundRect">
            <a:avLst>
              <a:gd fmla="val 6000" name="adj"/>
            </a:avLst>
          </a:prstGeom>
          <a:solidFill>
            <a:srgbClr val="EEF1F4"/>
          </a:solidFill>
          <a:ln>
            <a:noFill/>
          </a:ln>
        </p:spPr>
        <p:txBody>
          <a:bodyPr anchorCtr="0" anchor="t" bIns="364000" lIns="520000" spcFirstLastPara="1" rIns="520000" wrap="square" tIns="364000">
            <a:noAutofit/>
          </a:bodyPr>
          <a:lstStyle/>
          <a:p>
            <a:pPr indent="0" lvl="0" marL="0" marR="0" rtl="0" algn="l">
              <a:lnSpc>
                <a:spcPct val="127027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850"/>
              <a:buFont typeface="Montserrat SemiBold"/>
              <a:buNone/>
            </a:pPr>
            <a:r>
              <a:rPr b="1" i="0" lang="en-US" sz="1850" u="none" cap="none" strike="noStrike">
                <a:solidFill>
                  <a:srgbClr val="1A1A1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Previous approach: “superblock”</a:t>
            </a:r>
            <a:endParaRPr/>
          </a:p>
          <a:p>
            <a:pPr indent="-376825" lvl="0" marL="380000" marR="0" rtl="0" algn="l">
              <a:lnSpc>
                <a:spcPct val="125714"/>
              </a:lnSpc>
              <a:spcBef>
                <a:spcPts val="300"/>
              </a:spcBef>
              <a:spcAft>
                <a:spcPts val="0"/>
              </a:spcAft>
              <a:buClr>
                <a:srgbClr val="1A1A1A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Snapshots stored as monolithic objects</a:t>
            </a:r>
            <a:endParaRPr sz="1700"/>
          </a:p>
          <a:p>
            <a:pPr indent="-376825" lvl="0" marL="380000" marR="0" rtl="0" algn="l">
              <a:lnSpc>
                <a:spcPct val="125714"/>
              </a:lnSpc>
              <a:spcBef>
                <a:spcPts val="220"/>
              </a:spcBef>
              <a:spcAft>
                <a:spcPts val="0"/>
              </a:spcAft>
              <a:buClr>
                <a:srgbClr val="1A1A1A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Fast, but no fault tolerance and no storage recovery</a:t>
            </a:r>
            <a:endParaRPr sz="1700"/>
          </a:p>
        </p:txBody>
      </p:sp>
      <p:sp>
        <p:nvSpPr>
          <p:cNvPr id="62" name="Google Shape;62;p7"/>
          <p:cNvSpPr/>
          <p:nvPr/>
        </p:nvSpPr>
        <p:spPr>
          <a:xfrm>
            <a:off x="9390675" y="3250000"/>
            <a:ext cx="7754700" cy="2590500"/>
          </a:xfrm>
          <a:prstGeom prst="roundRect">
            <a:avLst>
              <a:gd fmla="val 6000" name="adj"/>
            </a:avLst>
          </a:prstGeom>
          <a:solidFill>
            <a:srgbClr val="40BA21"/>
          </a:solidFill>
          <a:ln>
            <a:noFill/>
          </a:ln>
        </p:spPr>
        <p:txBody>
          <a:bodyPr anchorCtr="0" anchor="t" bIns="364000" lIns="520000" spcFirstLastPara="1" rIns="520000" wrap="square" tIns="364000">
            <a:noAutofit/>
          </a:bodyPr>
          <a:lstStyle/>
          <a:p>
            <a:pPr indent="0" lvl="0" marL="0" marR="0" rtl="0" algn="l">
              <a:lnSpc>
                <a:spcPct val="127027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50"/>
              <a:buFont typeface="Montserrat SemiBold"/>
              <a:buNone/>
            </a:pPr>
            <a:r>
              <a:rPr b="1" i="0" lang="en-US" sz="185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Snapper 2.0</a:t>
            </a:r>
            <a:endParaRPr/>
          </a:p>
          <a:p>
            <a:pPr indent="-380000" lvl="0" marL="380000" marR="0" rtl="0" algn="l">
              <a:lnSpc>
                <a:spcPct val="126470"/>
              </a:lnSpc>
              <a:spcBef>
                <a:spcPts val="30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Configurable number of generations</a:t>
            </a:r>
            <a:endParaRPr/>
          </a:p>
          <a:p>
            <a:pPr indent="-380000" lvl="0" marL="380000" marR="0" rtl="0" algn="l">
              <a:lnSpc>
                <a:spcPct val="126470"/>
              </a:lnSpc>
              <a:spcBef>
                <a:spcPts val="18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Unchanged pages linked, not copied</a:t>
            </a:r>
            <a:endParaRPr/>
          </a:p>
          <a:p>
            <a:pPr indent="-380000" lvl="0" marL="380000" marR="0" rtl="0" algn="l">
              <a:lnSpc>
                <a:spcPct val="126470"/>
              </a:lnSpc>
              <a:spcBef>
                <a:spcPts val="18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ext4 + fsck for crash recovery</a:t>
            </a:r>
            <a:endParaRPr/>
          </a:p>
          <a:p>
            <a:pPr indent="-380000" lvl="0" marL="380000" marR="0" rtl="0" algn="l">
              <a:lnSpc>
                <a:spcPct val="126470"/>
              </a:lnSpc>
              <a:spcBef>
                <a:spcPts val="18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Integrity checks (per-file hashes)</a:t>
            </a:r>
            <a:endParaRPr/>
          </a:p>
          <a:p>
            <a:pPr indent="-380000" lvl="0" marL="380000" marR="0" rtl="0" algn="l">
              <a:lnSpc>
                <a:spcPct val="126470"/>
              </a:lnSpc>
              <a:spcBef>
                <a:spcPts val="18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Configurable redundancy policy</a:t>
            </a:r>
            <a:endParaRPr/>
          </a:p>
        </p:txBody>
      </p:sp>
      <p:sp>
        <p:nvSpPr>
          <p:cNvPr id="63" name="Google Shape;63;p7"/>
          <p:cNvSpPr/>
          <p:nvPr/>
        </p:nvSpPr>
        <p:spPr>
          <a:xfrm>
            <a:off x="1095375" y="9110000"/>
            <a:ext cx="13500000" cy="84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3750"/>
              </a:lnSpc>
              <a:spcBef>
                <a:spcPts val="0"/>
              </a:spcBef>
              <a:spcAft>
                <a:spcPts val="0"/>
              </a:spcAft>
              <a:buClr>
                <a:srgbClr val="9AA3AB"/>
              </a:buClr>
              <a:buSzPts val="1600"/>
              <a:buFont typeface="IBM Plex Sans Medium"/>
              <a:buNone/>
            </a:pPr>
            <a:r>
              <a:rPr b="1" baseline="30000" i="0" lang="en-US" sz="1600" u="none" cap="none" strike="noStrike">
                <a:solidFill>
                  <a:srgbClr val="9AA3AB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1 </a:t>
            </a:r>
            <a:r>
              <a:rPr b="0" i="0" lang="en-US" sz="1600" u="none" cap="none" strike="noStrike">
                <a:solidFill>
                  <a:srgbClr val="9AA3AB"/>
                </a:solidFill>
                <a:latin typeface="IBM Plex Sans"/>
                <a:ea typeface="IBM Plex Sans"/>
                <a:cs typeface="IBM Plex Sans"/>
                <a:sym typeface="IBM Plex Sans"/>
              </a:rPr>
              <a:t>https://github.com/rumenmitov/snapper</a:t>
            </a:r>
            <a:endParaRPr/>
          </a:p>
          <a:p>
            <a:pPr indent="0" lvl="0" marL="0" marR="0" rtl="0" algn="l">
              <a:lnSpc>
                <a:spcPct val="93750"/>
              </a:lnSpc>
              <a:spcBef>
                <a:spcPts val="60"/>
              </a:spcBef>
              <a:spcAft>
                <a:spcPts val="0"/>
              </a:spcAft>
              <a:buClr>
                <a:srgbClr val="9AA3AB"/>
              </a:buClr>
              <a:buSzPts val="1600"/>
              <a:buFont typeface="IBM Plex Sans Medium"/>
              <a:buNone/>
            </a:pPr>
            <a:r>
              <a:rPr b="1" baseline="30000" i="0" lang="en-US" sz="1600" u="none" cap="none" strike="noStrike">
                <a:solidFill>
                  <a:srgbClr val="9AA3AB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2 </a:t>
            </a:r>
            <a:r>
              <a:rPr b="0" i="0" lang="en-US" sz="1600" u="none" cap="none" strike="noStrike">
                <a:solidFill>
                  <a:srgbClr val="9AA3AB"/>
                </a:solidFill>
                <a:latin typeface="IBM Plex Sans"/>
                <a:ea typeface="IBM Plex Sans"/>
                <a:cs typeface="IBM Plex Sans"/>
                <a:sym typeface="IBM Plex Sans"/>
              </a:rPr>
              <a:t>R. Mitov. “Snapper (v2): A PhantomOS snapshot mechanism”, FOSDEM 2026.</a:t>
            </a:r>
            <a:endParaRPr/>
          </a:p>
        </p:txBody>
      </p:sp>
      <p:pic>
        <p:nvPicPr>
          <p:cNvPr id="64" name="Google Shape;64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900000" y="780000"/>
            <a:ext cx="2480000" cy="720500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7"/>
          <p:cNvSpPr/>
          <p:nvPr/>
        </p:nvSpPr>
        <p:spPr>
          <a:xfrm>
            <a:off x="16400000" y="9550000"/>
            <a:ext cx="15000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A3AB"/>
              </a:buClr>
              <a:buSzPts val="1300"/>
              <a:buFont typeface="IBM Plex Mono"/>
              <a:buNone/>
            </a:pPr>
            <a:r>
              <a:rPr lang="en-US" sz="1300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5</a:t>
            </a:r>
            <a:r>
              <a:rPr b="0" i="0" lang="en-US" sz="1300" u="none" cap="none" strike="noStrike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/</a:t>
            </a:r>
            <a:r>
              <a:rPr lang="en-US" sz="1300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  <a:endParaRPr/>
          </a:p>
        </p:txBody>
      </p:sp>
      <p:sp>
        <p:nvSpPr>
          <p:cNvPr id="66" name="Google Shape;66;p7"/>
          <p:cNvSpPr/>
          <p:nvPr/>
        </p:nvSpPr>
        <p:spPr>
          <a:xfrm>
            <a:off x="1095375" y="6090500"/>
            <a:ext cx="7700100" cy="2904000"/>
          </a:xfrm>
          <a:prstGeom prst="roundRect">
            <a:avLst>
              <a:gd fmla="val 6000" name="adj"/>
            </a:avLst>
          </a:prstGeom>
          <a:solidFill>
            <a:srgbClr val="EEF1F4"/>
          </a:solidFill>
          <a:ln>
            <a:noFill/>
          </a:ln>
        </p:spPr>
        <p:txBody>
          <a:bodyPr anchorCtr="0" anchor="t" bIns="392000" lIns="560000" spcFirstLastPara="1" rIns="560000" wrap="square" tIns="392000">
            <a:noAutofit/>
          </a:bodyPr>
          <a:lstStyle/>
          <a:p>
            <a:pPr indent="0" lvl="0" marL="0" marR="0" rtl="0" algn="l">
              <a:lnSpc>
                <a:spcPct val="126315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Montserrat SemiBold"/>
              <a:buNone/>
            </a:pPr>
            <a:r>
              <a:rPr b="1" i="0" lang="en-US" sz="1850" u="none" cap="none" strike="noStrike">
                <a:solidFill>
                  <a:srgbClr val="1A1A1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Problem</a:t>
            </a:r>
            <a:endParaRPr sz="1850"/>
          </a:p>
          <a:p>
            <a:pPr indent="-376826" lvl="0" marL="380001" marR="0" rtl="0" algn="l">
              <a:lnSpc>
                <a:spcPct val="125714"/>
              </a:lnSpc>
              <a:spcBef>
                <a:spcPts val="280"/>
              </a:spcBef>
              <a:spcAft>
                <a:spcPts val="0"/>
              </a:spcAft>
              <a:buClr>
                <a:srgbClr val="1A1A1A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Snapshots contain </a:t>
            </a:r>
            <a:r>
              <a:rPr b="1" i="0" lang="en-US" sz="170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sensitive data</a:t>
            </a:r>
            <a:endParaRPr sz="1700"/>
          </a:p>
          <a:p>
            <a:pPr indent="-376826" lvl="0" marL="380001" marR="0" rtl="0" algn="l">
              <a:lnSpc>
                <a:spcPct val="125714"/>
              </a:lnSpc>
              <a:spcBef>
                <a:spcPts val="200"/>
              </a:spcBef>
              <a:spcAft>
                <a:spcPts val="0"/>
              </a:spcAft>
              <a:buClr>
                <a:srgbClr val="1A1A1A"/>
              </a:buClr>
              <a:buSzPts val="1700"/>
              <a:buFont typeface="Arial"/>
              <a:buChar char="•"/>
            </a:pPr>
            <a:r>
              <a:rPr b="1" i="0" lang="en-US" sz="170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Plaintext</a:t>
            </a:r>
            <a:r>
              <a:rPr b="0" i="0" lang="en-US" sz="170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 snapshots are stored on the drive</a:t>
            </a:r>
            <a:endParaRPr sz="1700"/>
          </a:p>
          <a:p>
            <a:pPr indent="0" lvl="0" marL="0" marR="0" rtl="0" algn="l">
              <a:lnSpc>
                <a:spcPct val="126315"/>
              </a:lnSpc>
              <a:spcBef>
                <a:spcPts val="42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Montserrat SemiBold"/>
              <a:buNone/>
            </a:pPr>
            <a:r>
              <a:rPr b="1" i="0" lang="en-US" sz="1700" u="none" cap="none" strike="noStrike">
                <a:solidFill>
                  <a:srgbClr val="1A1A1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Consequence</a:t>
            </a:r>
            <a:endParaRPr b="1" i="0" sz="1700" u="none" cap="none" strike="noStrike">
              <a:solidFill>
                <a:srgbClr val="1A1A1A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-376826" lvl="0" marL="380001" marR="0" rtl="0" algn="l">
              <a:lnSpc>
                <a:spcPct val="125714"/>
              </a:lnSpc>
              <a:spcBef>
                <a:spcPts val="280"/>
              </a:spcBef>
              <a:spcAft>
                <a:spcPts val="0"/>
              </a:spcAft>
              <a:buClr>
                <a:srgbClr val="1A1A1A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Physical access attacks</a:t>
            </a:r>
            <a:endParaRPr b="1" i="0" sz="1700" u="none" cap="none" strike="noStrike">
              <a:solidFill>
                <a:srgbClr val="1A1A1A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376826" lvl="1" marL="837201" marR="0" rtl="0" algn="l">
              <a:lnSpc>
                <a:spcPct val="125714"/>
              </a:lnSpc>
              <a:spcBef>
                <a:spcPts val="200"/>
              </a:spcBef>
              <a:spcAft>
                <a:spcPts val="0"/>
              </a:spcAft>
              <a:buClr>
                <a:srgbClr val="1A1A1A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Reproduce the machine state</a:t>
            </a:r>
            <a:endParaRPr sz="1700"/>
          </a:p>
        </p:txBody>
      </p:sp>
      <p:sp>
        <p:nvSpPr>
          <p:cNvPr id="67" name="Google Shape;67;p7"/>
          <p:cNvSpPr/>
          <p:nvPr/>
        </p:nvSpPr>
        <p:spPr>
          <a:xfrm>
            <a:off x="9390675" y="6090600"/>
            <a:ext cx="7754700" cy="2904000"/>
          </a:xfrm>
          <a:prstGeom prst="roundRect">
            <a:avLst>
              <a:gd fmla="val 6000" name="adj"/>
            </a:avLst>
          </a:prstGeom>
          <a:solidFill>
            <a:srgbClr val="40BA21"/>
          </a:solidFill>
          <a:ln>
            <a:noFill/>
          </a:ln>
        </p:spPr>
        <p:txBody>
          <a:bodyPr anchorCtr="0" anchor="t" bIns="392000" lIns="560000" spcFirstLastPara="1" rIns="560000" wrap="square" tIns="392000">
            <a:noAutofit/>
          </a:bodyPr>
          <a:lstStyle/>
          <a:p>
            <a:pPr indent="0" lvl="0" marL="0" marR="0" rtl="0" algn="l">
              <a:lnSpc>
                <a:spcPct val="12631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00"/>
              <a:buFont typeface="Montserrat SemiBold"/>
              <a:buNone/>
            </a:pPr>
            <a:r>
              <a:rPr b="1" i="0" lang="en-US" sz="185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Challenges</a:t>
            </a:r>
            <a:endParaRPr sz="1850"/>
          </a:p>
          <a:p>
            <a:pPr indent="-376826" lvl="0" marL="380001" marR="0" rtl="0" algn="l">
              <a:lnSpc>
                <a:spcPct val="125714"/>
              </a:lnSpc>
              <a:spcBef>
                <a:spcPts val="28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Char char="•"/>
            </a:pPr>
            <a:r>
              <a:rPr b="1" i="0" lang="en-US" sz="17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No prior research </a:t>
            </a:r>
            <a:r>
              <a:rPr b="0" i="0" lang="en-US" sz="17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on this for PhantomOS</a:t>
            </a:r>
            <a:endParaRPr sz="1700"/>
          </a:p>
          <a:p>
            <a:pPr indent="-376826" lvl="0" marL="380001" marR="0" rtl="0" algn="l">
              <a:lnSpc>
                <a:spcPct val="125714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Char char="•"/>
            </a:pPr>
            <a:r>
              <a:rPr b="1" i="0" lang="en-US" sz="17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No ready-made solution </a:t>
            </a:r>
            <a:r>
              <a:rPr b="0" i="0" lang="en-US" sz="17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exists in Genode</a:t>
            </a:r>
            <a:endParaRPr sz="1700"/>
          </a:p>
          <a:p>
            <a:pPr indent="0" lvl="0" marL="0" marR="0" rtl="0" algn="l">
              <a:lnSpc>
                <a:spcPct val="126315"/>
              </a:lnSpc>
              <a:spcBef>
                <a:spcPts val="520"/>
              </a:spcBef>
              <a:spcAft>
                <a:spcPts val="0"/>
              </a:spcAft>
              <a:buClr>
                <a:srgbClr val="FFFFFF"/>
              </a:buClr>
              <a:buSzPts val="1900"/>
              <a:buFont typeface="Montserrat SemiBold"/>
              <a:buNone/>
            </a:pPr>
            <a:r>
              <a:rPr b="1" i="0" lang="en-US" sz="185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Solution</a:t>
            </a:r>
            <a:endParaRPr sz="1850"/>
          </a:p>
          <a:p>
            <a:pPr indent="0" lvl="0" marL="0" marR="0" rtl="0" algn="l">
              <a:lnSpc>
                <a:spcPct val="129729"/>
              </a:lnSpc>
              <a:spcBef>
                <a:spcPts val="280"/>
              </a:spcBef>
              <a:spcAft>
                <a:spcPts val="0"/>
              </a:spcAft>
              <a:buClr>
                <a:srgbClr val="FFFFFF"/>
              </a:buClr>
              <a:buSzPts val="1850"/>
              <a:buFont typeface="IBM Plex Sans Medium"/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Implement a mechanism for the secure storage of snapshots.</a:t>
            </a:r>
            <a:endParaRPr sz="17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8"/>
          <p:cNvSpPr/>
          <p:nvPr/>
        </p:nvSpPr>
        <p:spPr>
          <a:xfrm>
            <a:off x="1095375" y="900000"/>
            <a:ext cx="13000000" cy="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4285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800"/>
              <a:buFont typeface="Montserrat"/>
              <a:buNone/>
            </a:pPr>
            <a:r>
              <a:rPr b="1" lang="en-US" sz="2800">
                <a:solidFill>
                  <a:srgbClr val="1A1A1A"/>
                </a:solidFill>
                <a:latin typeface="Montserrat"/>
                <a:ea typeface="Montserrat"/>
                <a:cs typeface="Montserrat"/>
                <a:sym typeface="Montserrat"/>
              </a:rPr>
              <a:t>Environment description: Usage scenarios (1/2)</a:t>
            </a:r>
            <a:endParaRPr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14285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800"/>
              <a:buFont typeface="Montserrat"/>
              <a:buNone/>
            </a:pPr>
            <a:r>
              <a:t/>
            </a:r>
            <a:endParaRPr b="1" sz="2800">
              <a:solidFill>
                <a:srgbClr val="1A1A1A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73" name="Google Shape;73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900000" y="780000"/>
            <a:ext cx="2480000" cy="720500"/>
          </a:xfrm>
          <a:prstGeom prst="rect">
            <a:avLst/>
          </a:prstGeom>
          <a:noFill/>
          <a:ln>
            <a:noFill/>
          </a:ln>
        </p:spPr>
      </p:pic>
      <p:sp>
        <p:nvSpPr>
          <p:cNvPr id="74" name="Google Shape;74;p8"/>
          <p:cNvSpPr/>
          <p:nvPr/>
        </p:nvSpPr>
        <p:spPr>
          <a:xfrm>
            <a:off x="16400000" y="9550000"/>
            <a:ext cx="15000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A3AB"/>
              </a:buClr>
              <a:buSzPts val="1300"/>
              <a:buFont typeface="IBM Plex Mono"/>
              <a:buNone/>
            </a:pPr>
            <a:r>
              <a:rPr lang="en-US" sz="1300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6</a:t>
            </a:r>
            <a:r>
              <a:rPr b="0" i="0" lang="en-US" sz="1300" u="none" cap="none" strike="noStrike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/</a:t>
            </a:r>
            <a:r>
              <a:rPr lang="en-US" sz="1300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  <a:endParaRPr/>
          </a:p>
        </p:txBody>
      </p:sp>
      <p:pic>
        <p:nvPicPr>
          <p:cNvPr id="75" name="Google Shape;75;p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90230" y="1500500"/>
            <a:ext cx="10507549" cy="805337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9"/>
          <p:cNvSpPr/>
          <p:nvPr/>
        </p:nvSpPr>
        <p:spPr>
          <a:xfrm>
            <a:off x="1095375" y="900000"/>
            <a:ext cx="13000000" cy="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4285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800"/>
              <a:buFont typeface="Montserrat"/>
              <a:buNone/>
            </a:pPr>
            <a:r>
              <a:rPr b="1" lang="en-US" sz="2800">
                <a:solidFill>
                  <a:srgbClr val="1A1A1A"/>
                </a:solidFill>
                <a:latin typeface="Montserrat"/>
                <a:ea typeface="Montserrat"/>
                <a:cs typeface="Montserrat"/>
                <a:sym typeface="Montserrat"/>
              </a:rPr>
              <a:t>Environment description: Usage scenarios</a:t>
            </a:r>
            <a:r>
              <a:rPr b="1" i="0" lang="en-US" sz="2800" u="none" cap="none" strike="noStrike">
                <a:solidFill>
                  <a:srgbClr val="1A1A1A"/>
                </a:solidFill>
                <a:latin typeface="Montserrat"/>
                <a:ea typeface="Montserrat"/>
                <a:cs typeface="Montserrat"/>
                <a:sym typeface="Montserrat"/>
              </a:rPr>
              <a:t> (2/2)</a:t>
            </a:r>
            <a:endParaRPr/>
          </a:p>
        </p:txBody>
      </p:sp>
      <p:pic>
        <p:nvPicPr>
          <p:cNvPr id="81" name="Google Shape;81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900000" y="780000"/>
            <a:ext cx="2480000" cy="720500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9"/>
          <p:cNvSpPr/>
          <p:nvPr/>
        </p:nvSpPr>
        <p:spPr>
          <a:xfrm>
            <a:off x="16400000" y="9550000"/>
            <a:ext cx="15000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A3AB"/>
              </a:buClr>
              <a:buSzPts val="1300"/>
              <a:buFont typeface="IBM Plex Mono"/>
              <a:buNone/>
            </a:pPr>
            <a:r>
              <a:rPr lang="en-US" sz="1300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7</a:t>
            </a:r>
            <a:r>
              <a:rPr b="0" i="0" lang="en-US" sz="1300" u="none" cap="none" strike="noStrike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/</a:t>
            </a:r>
            <a:r>
              <a:rPr lang="en-US" sz="1300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  <a:endParaRPr/>
          </a:p>
        </p:txBody>
      </p:sp>
      <p:pic>
        <p:nvPicPr>
          <p:cNvPr id="83" name="Google Shape;83;p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726540" y="2115350"/>
            <a:ext cx="10860924" cy="74346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0"/>
          <p:cNvSpPr/>
          <p:nvPr/>
        </p:nvSpPr>
        <p:spPr>
          <a:xfrm>
            <a:off x="1095375" y="900000"/>
            <a:ext cx="13000000" cy="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4285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800"/>
              <a:buFont typeface="Montserrat"/>
              <a:buNone/>
            </a:pPr>
            <a:r>
              <a:rPr b="1" i="0" lang="en-US" sz="2800" u="none" cap="none" strike="noStrike">
                <a:solidFill>
                  <a:srgbClr val="1A1A1A"/>
                </a:solidFill>
                <a:latin typeface="Montserrat"/>
                <a:ea typeface="Montserrat"/>
                <a:cs typeface="Montserrat"/>
                <a:sym typeface="Montserrat"/>
              </a:rPr>
              <a:t>Environment &amp; Requirements</a:t>
            </a:r>
            <a:endParaRPr/>
          </a:p>
        </p:txBody>
      </p:sp>
      <p:sp>
        <p:nvSpPr>
          <p:cNvPr id="89" name="Google Shape;89;p10"/>
          <p:cNvSpPr/>
          <p:nvPr/>
        </p:nvSpPr>
        <p:spPr>
          <a:xfrm>
            <a:off x="1095375" y="1850000"/>
            <a:ext cx="16050000" cy="950000"/>
          </a:xfrm>
          <a:prstGeom prst="roundRect">
            <a:avLst>
              <a:gd fmla="val 6000" name="adj"/>
            </a:avLst>
          </a:prstGeom>
          <a:solidFill>
            <a:srgbClr val="40BA21"/>
          </a:solidFill>
          <a:ln>
            <a:noFill/>
          </a:ln>
        </p:spPr>
        <p:txBody>
          <a:bodyPr anchorCtr="0" anchor="ctr" bIns="364000" lIns="520000" spcFirstLastPara="1" rIns="520000" wrap="square" tIns="364000">
            <a:noAutofit/>
          </a:bodyPr>
          <a:lstStyle/>
          <a:p>
            <a:pPr indent="0" lvl="0" marL="0" marR="0" rtl="0" algn="l">
              <a:lnSpc>
                <a:spcPct val="123809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Montserrat SemiBold"/>
              <a:buNone/>
            </a:pPr>
            <a:r>
              <a:rPr b="1" i="0" lang="en-US" sz="210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No unauthorized access to data</a:t>
            </a:r>
            <a:endParaRPr/>
          </a:p>
        </p:txBody>
      </p:sp>
      <p:sp>
        <p:nvSpPr>
          <p:cNvPr id="90" name="Google Shape;90;p10"/>
          <p:cNvSpPr/>
          <p:nvPr/>
        </p:nvSpPr>
        <p:spPr>
          <a:xfrm>
            <a:off x="1095375" y="3050000"/>
            <a:ext cx="9300000" cy="4950000"/>
          </a:xfrm>
          <a:prstGeom prst="roundRect">
            <a:avLst>
              <a:gd fmla="val 6000" name="adj"/>
            </a:avLst>
          </a:prstGeom>
          <a:solidFill>
            <a:srgbClr val="EEF1F4"/>
          </a:solidFill>
          <a:ln>
            <a:noFill/>
          </a:ln>
        </p:spPr>
        <p:txBody>
          <a:bodyPr anchorCtr="0" anchor="ctr" bIns="392000" lIns="560000" spcFirstLastPara="1" rIns="560000" wrap="square" tIns="392000">
            <a:noAutofit/>
          </a:bodyPr>
          <a:lstStyle/>
          <a:p>
            <a:pPr indent="0" lvl="0" marL="0" marR="0" rtl="0" algn="l">
              <a:lnSpc>
                <a:spcPct val="128205"/>
              </a:lnSpc>
              <a:spcBef>
                <a:spcPts val="0"/>
              </a:spcBef>
              <a:spcAft>
                <a:spcPts val="0"/>
              </a:spcAft>
              <a:buClr>
                <a:srgbClr val="2E8B16"/>
              </a:buClr>
              <a:buSzPts val="1950"/>
              <a:buFont typeface="Montserrat SemiBold"/>
              <a:buNone/>
            </a:pPr>
            <a:r>
              <a:rPr b="1" i="0" lang="en-US" sz="1950" u="none" cap="none" strike="noStrike">
                <a:solidFill>
                  <a:srgbClr val="2E8B16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Requirements</a:t>
            </a:r>
            <a:endParaRPr/>
          </a:p>
          <a:p>
            <a:pPr indent="0" lvl="0" marL="0" marR="0" rtl="0" algn="l">
              <a:lnSpc>
                <a:spcPct val="127027"/>
              </a:lnSpc>
              <a:spcBef>
                <a:spcPts val="320"/>
              </a:spcBef>
              <a:spcAft>
                <a:spcPts val="0"/>
              </a:spcAft>
              <a:buClr>
                <a:srgbClr val="2E8B16"/>
              </a:buClr>
              <a:buSzPts val="1850"/>
              <a:buFont typeface="Montserrat SemiBold"/>
              <a:buNone/>
            </a:pPr>
            <a:r>
              <a:rPr b="1" i="0" lang="en-US" sz="1850" u="none" cap="none" strike="noStrike">
                <a:solidFill>
                  <a:srgbClr val="2E8B16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1.  </a:t>
            </a:r>
            <a:r>
              <a:rPr lang="en-US" sz="185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Access control</a:t>
            </a:r>
            <a:endParaRPr/>
          </a:p>
          <a:p>
            <a:pPr indent="0" lvl="0" marL="0" marR="0" rtl="0" algn="l">
              <a:lnSpc>
                <a:spcPct val="127027"/>
              </a:lnSpc>
              <a:spcBef>
                <a:spcPts val="230"/>
              </a:spcBef>
              <a:spcAft>
                <a:spcPts val="0"/>
              </a:spcAft>
              <a:buClr>
                <a:srgbClr val="2E8B16"/>
              </a:buClr>
              <a:buSzPts val="1850"/>
              <a:buFont typeface="Montserrat SemiBold"/>
              <a:buNone/>
            </a:pPr>
            <a:r>
              <a:rPr b="1" i="0" lang="en-US" sz="1850" u="none" cap="none" strike="noStrike">
                <a:solidFill>
                  <a:srgbClr val="2E8B16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2.  </a:t>
            </a:r>
            <a:r>
              <a:rPr b="0" i="0" lang="en-US" sz="185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Key stored on an external USB drive</a:t>
            </a:r>
            <a:endParaRPr/>
          </a:p>
          <a:p>
            <a:pPr indent="0" lvl="0" marL="0" marR="0" rtl="0" algn="l">
              <a:lnSpc>
                <a:spcPct val="127027"/>
              </a:lnSpc>
              <a:spcBef>
                <a:spcPts val="230"/>
              </a:spcBef>
              <a:spcAft>
                <a:spcPts val="0"/>
              </a:spcAft>
              <a:buClr>
                <a:srgbClr val="2E8B16"/>
              </a:buClr>
              <a:buSzPts val="1850"/>
              <a:buFont typeface="Montserrat SemiBold"/>
              <a:buNone/>
            </a:pPr>
            <a:r>
              <a:rPr b="1" i="0" lang="en-US" sz="1850" u="none" cap="none" strike="noStrike">
                <a:solidFill>
                  <a:srgbClr val="2E8B16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3.  </a:t>
            </a:r>
            <a:r>
              <a:rPr b="0" i="0" lang="en-US" sz="185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Encryption of snapshots (</a:t>
            </a:r>
            <a:r>
              <a:rPr b="0" i="0" lang="en-US" sz="185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AES, </a:t>
            </a:r>
            <a:r>
              <a:rPr b="0" i="0" lang="en-US" sz="185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block-level)</a:t>
            </a:r>
            <a:endParaRPr/>
          </a:p>
          <a:p>
            <a:pPr indent="0" lvl="0" marL="0" marR="0" rtl="0" algn="l">
              <a:lnSpc>
                <a:spcPct val="127027"/>
              </a:lnSpc>
              <a:spcBef>
                <a:spcPts val="230"/>
              </a:spcBef>
              <a:spcAft>
                <a:spcPts val="0"/>
              </a:spcAft>
              <a:buClr>
                <a:srgbClr val="2E8B16"/>
              </a:buClr>
              <a:buSzPts val="1850"/>
              <a:buFont typeface="Montserrat SemiBold"/>
              <a:buNone/>
            </a:pPr>
            <a:r>
              <a:rPr b="1" i="0" lang="en-US" sz="1850" u="none" cap="none" strike="noStrike">
                <a:solidFill>
                  <a:srgbClr val="2E8B16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4.  </a:t>
            </a:r>
            <a:r>
              <a:rPr b="0" i="0" lang="en-US" sz="185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Only encrypted data written to disk</a:t>
            </a:r>
            <a:endParaRPr/>
          </a:p>
          <a:p>
            <a:pPr indent="0" lvl="0" marL="0" marR="0" rtl="0" algn="l">
              <a:lnSpc>
                <a:spcPct val="127027"/>
              </a:lnSpc>
              <a:spcBef>
                <a:spcPts val="230"/>
              </a:spcBef>
              <a:spcAft>
                <a:spcPts val="0"/>
              </a:spcAft>
              <a:buClr>
                <a:srgbClr val="2E8B16"/>
              </a:buClr>
              <a:buSzPts val="1850"/>
              <a:buFont typeface="Montserrat SemiBold"/>
              <a:buNone/>
            </a:pPr>
            <a:r>
              <a:rPr b="1" i="0" lang="en-US" sz="1850" u="none" cap="none" strike="noStrike">
                <a:solidFill>
                  <a:srgbClr val="2E8B16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5.  </a:t>
            </a:r>
            <a:r>
              <a:rPr b="0" i="0" lang="en-US" sz="185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Acceptable performance overhead (≤ 2×)</a:t>
            </a:r>
            <a:endParaRPr/>
          </a:p>
        </p:txBody>
      </p:sp>
      <p:sp>
        <p:nvSpPr>
          <p:cNvPr id="91" name="Google Shape;91;p10"/>
          <p:cNvSpPr/>
          <p:nvPr/>
        </p:nvSpPr>
        <p:spPr>
          <a:xfrm>
            <a:off x="10800000" y="3050000"/>
            <a:ext cx="6350000" cy="4950000"/>
          </a:xfrm>
          <a:prstGeom prst="roundRect">
            <a:avLst>
              <a:gd fmla="val 6000" name="adj"/>
            </a:avLst>
          </a:prstGeom>
          <a:solidFill>
            <a:srgbClr val="40BA21"/>
          </a:solidFill>
          <a:ln>
            <a:noFill/>
          </a:ln>
        </p:spPr>
        <p:txBody>
          <a:bodyPr anchorCtr="0" anchor="ctr" bIns="434000" lIns="620000" spcFirstLastPara="1" rIns="620000" wrap="square" tIns="434000">
            <a:noAutofit/>
          </a:bodyPr>
          <a:lstStyle/>
          <a:p>
            <a:pPr indent="0" lvl="0" marL="0" marR="0" rtl="0" algn="l">
              <a:lnSpc>
                <a:spcPct val="126829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50"/>
              <a:buFont typeface="Montserrat SemiBold"/>
              <a:buNone/>
            </a:pPr>
            <a:r>
              <a:rPr b="1" i="0" lang="en-US" sz="205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USB drive = key + auth factor</a:t>
            </a:r>
            <a:endParaRPr/>
          </a:p>
          <a:p>
            <a:pPr indent="0" lvl="0" marL="0" marR="0" rtl="0" algn="l">
              <a:lnSpc>
                <a:spcPct val="129729"/>
              </a:lnSpc>
              <a:spcBef>
                <a:spcPts val="400"/>
              </a:spcBef>
              <a:spcAft>
                <a:spcPts val="0"/>
              </a:spcAft>
              <a:buClr>
                <a:srgbClr val="FFFFFF"/>
              </a:buClr>
              <a:buSzPts val="1850"/>
              <a:buFont typeface="IBM Plex Sans"/>
              <a:buNone/>
            </a:pPr>
            <a:r>
              <a:rPr b="0" i="0" lang="en-US" sz="185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Requirements 1 and 2 combined: the USB drive both contains the key and serves as the authentication factor.</a:t>
            </a:r>
            <a:endParaRPr/>
          </a:p>
        </p:txBody>
      </p:sp>
      <p:pic>
        <p:nvPicPr>
          <p:cNvPr id="92" name="Google Shape;92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900000" y="780000"/>
            <a:ext cx="2480000" cy="720500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0"/>
          <p:cNvSpPr/>
          <p:nvPr/>
        </p:nvSpPr>
        <p:spPr>
          <a:xfrm>
            <a:off x="16400000" y="9550000"/>
            <a:ext cx="15000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A3AB"/>
              </a:buClr>
              <a:buSzPts val="1300"/>
              <a:buFont typeface="IBM Plex Mono"/>
              <a:buNone/>
            </a:pPr>
            <a:r>
              <a:rPr lang="en-US" sz="1300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8</a:t>
            </a:r>
            <a:r>
              <a:rPr b="0" i="0" lang="en-US" sz="1300" u="none" cap="none" strike="noStrike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/</a:t>
            </a:r>
            <a:r>
              <a:rPr lang="en-US" sz="1300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1"/>
          <p:cNvSpPr/>
          <p:nvPr/>
        </p:nvSpPr>
        <p:spPr>
          <a:xfrm>
            <a:off x="1095375" y="900000"/>
            <a:ext cx="13000000" cy="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4285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800"/>
              <a:buFont typeface="Montserrat"/>
              <a:buNone/>
            </a:pPr>
            <a:r>
              <a:rPr b="1" i="0" lang="en-US" sz="2800" u="none" cap="none" strike="noStrike">
                <a:solidFill>
                  <a:srgbClr val="1A1A1A"/>
                </a:solidFill>
                <a:latin typeface="Montserrat"/>
                <a:ea typeface="Montserrat"/>
                <a:cs typeface="Montserrat"/>
                <a:sym typeface="Montserrat"/>
              </a:rPr>
              <a:t>Implementation</a:t>
            </a:r>
            <a:endParaRPr/>
          </a:p>
        </p:txBody>
      </p:sp>
      <p:sp>
        <p:nvSpPr>
          <p:cNvPr id="99" name="Google Shape;99;p11"/>
          <p:cNvSpPr/>
          <p:nvPr/>
        </p:nvSpPr>
        <p:spPr>
          <a:xfrm>
            <a:off x="1095375" y="1900000"/>
            <a:ext cx="7700100" cy="3725700"/>
          </a:xfrm>
          <a:prstGeom prst="roundRect">
            <a:avLst>
              <a:gd fmla="val 6000" name="adj"/>
            </a:avLst>
          </a:prstGeom>
          <a:solidFill>
            <a:srgbClr val="EEF1F4"/>
          </a:solidFill>
          <a:ln>
            <a:noFill/>
          </a:ln>
        </p:spPr>
        <p:txBody>
          <a:bodyPr anchorCtr="0" anchor="t" bIns="364000" lIns="520000" spcFirstLastPara="1" rIns="520000" wrap="square" tIns="364000">
            <a:noAutofit/>
          </a:bodyPr>
          <a:lstStyle/>
          <a:p>
            <a:pPr indent="0" lvl="0" marL="0" marR="0" rtl="0" algn="l">
              <a:lnSpc>
                <a:spcPct val="126315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Montserrat SemiBold"/>
              <a:buNone/>
            </a:pPr>
            <a:r>
              <a:rPr b="1" i="0" lang="en-US" sz="1900" u="none" cap="none" strike="noStrike">
                <a:solidFill>
                  <a:srgbClr val="1A1A1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Built on file_vault</a:t>
            </a:r>
            <a:r>
              <a:rPr b="1" baseline="30000" i="0" lang="en-US" sz="1900" u="none" cap="none" strike="noStrike">
                <a:solidFill>
                  <a:srgbClr val="1A1A1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2</a:t>
            </a:r>
            <a:r>
              <a:rPr b="1" i="0" lang="en-US" sz="1900" u="none" cap="none" strike="noStrike">
                <a:solidFill>
                  <a:srgbClr val="1A1A1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(based on Tresor)</a:t>
            </a:r>
            <a:r>
              <a:rPr b="1" lang="en-US" sz="1900">
                <a:solidFill>
                  <a:srgbClr val="1A1A1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:</a:t>
            </a:r>
            <a:endParaRPr b="1" i="0" sz="1900" u="none" cap="none" strike="noStrike">
              <a:solidFill>
                <a:srgbClr val="1A1A1A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-380000" lvl="0" marL="380000" marR="0" rtl="0" algn="l">
              <a:lnSpc>
                <a:spcPct val="126470"/>
              </a:lnSpc>
              <a:spcBef>
                <a:spcPts val="300"/>
              </a:spcBef>
              <a:spcAft>
                <a:spcPts val="0"/>
              </a:spcAft>
              <a:buClr>
                <a:srgbClr val="1A1A1A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Tresor: AES on 4K blocks, SHA-256 integrity, CoW atomicity</a:t>
            </a:r>
            <a:endParaRPr/>
          </a:p>
          <a:p>
            <a:pPr indent="-380000" lvl="0" marL="380000" marR="0" rtl="0" algn="l">
              <a:lnSpc>
                <a:spcPct val="126470"/>
              </a:lnSpc>
              <a:spcBef>
                <a:spcPts val="200"/>
              </a:spcBef>
              <a:spcAft>
                <a:spcPts val="0"/>
              </a:spcAft>
              <a:buClr>
                <a:srgbClr val="1A1A1A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file_vault: state orchestrator providing a secure FS session</a:t>
            </a:r>
            <a:endParaRPr/>
          </a:p>
        </p:txBody>
      </p:sp>
      <p:sp>
        <p:nvSpPr>
          <p:cNvPr id="100" name="Google Shape;100;p11"/>
          <p:cNvSpPr/>
          <p:nvPr/>
        </p:nvSpPr>
        <p:spPr>
          <a:xfrm>
            <a:off x="9395375" y="1900000"/>
            <a:ext cx="7754700" cy="3725700"/>
          </a:xfrm>
          <a:prstGeom prst="roundRect">
            <a:avLst>
              <a:gd fmla="val 6000" name="adj"/>
            </a:avLst>
          </a:prstGeom>
          <a:solidFill>
            <a:srgbClr val="40BA21"/>
          </a:solidFill>
          <a:ln>
            <a:noFill/>
          </a:ln>
        </p:spPr>
        <p:txBody>
          <a:bodyPr anchorCtr="0" anchor="t" bIns="364000" lIns="520000" spcFirstLastPara="1" rIns="520000" wrap="square" tIns="364000">
            <a:noAutofit/>
          </a:bodyPr>
          <a:lstStyle/>
          <a:p>
            <a:pPr indent="0" lvl="0" marL="0" marR="0" rtl="0" algn="l">
              <a:lnSpc>
                <a:spcPct val="12631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00"/>
              <a:buFont typeface="Montserrat SemiBold"/>
              <a:buNone/>
            </a:pPr>
            <a:r>
              <a:rPr b="1" i="0" lang="en-US" sz="190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Implemented se_vault</a:t>
            </a:r>
            <a:r>
              <a:rPr b="1" baseline="30000" i="0" lang="en-US" sz="190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1</a:t>
            </a:r>
            <a:r>
              <a:rPr b="1" i="0" lang="en-US" sz="190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 as modified file_vault</a:t>
            </a:r>
            <a:endParaRPr b="1" i="0" sz="1900" u="none" cap="none" strike="noStrike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0" lvl="0" marL="0" marR="0" rtl="0" algn="l">
              <a:lnSpc>
                <a:spcPct val="126315"/>
              </a:lnSpc>
              <a:spcBef>
                <a:spcPts val="300"/>
              </a:spcBef>
              <a:spcAft>
                <a:spcPts val="0"/>
              </a:spcAft>
              <a:buClr>
                <a:srgbClr val="FFFFFF"/>
              </a:buClr>
              <a:buSzPts val="1900"/>
              <a:buFont typeface="Montserrat SemiBold"/>
              <a:buNone/>
            </a:pPr>
            <a:r>
              <a:rPr b="1" i="0" lang="en-US" sz="190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Changes:</a:t>
            </a:r>
            <a:endParaRPr b="1" i="0" sz="1900" u="none" cap="none" strike="noStrike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-366350" lvl="0" marL="360000" marR="0" rtl="0" algn="l">
              <a:lnSpc>
                <a:spcPct val="128125"/>
              </a:lnSpc>
              <a:spcBef>
                <a:spcPts val="30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Headless operation</a:t>
            </a:r>
            <a:endParaRPr sz="1700"/>
          </a:p>
          <a:p>
            <a:pPr indent="-366350" lvl="0" marL="360000" marR="0" rtl="0" algn="l">
              <a:lnSpc>
                <a:spcPct val="128125"/>
              </a:lnSpc>
              <a:spcBef>
                <a:spcPts val="15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Passphrase replaced </a:t>
            </a:r>
            <a:r>
              <a:rPr b="1" i="0" lang="en-US" sz="17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by USB key file</a:t>
            </a:r>
            <a:endParaRPr sz="1700"/>
          </a:p>
          <a:p>
            <a:pPr indent="-366350" lvl="0" marL="360000" marR="0" rtl="0" algn="l">
              <a:lnSpc>
                <a:spcPct val="128125"/>
              </a:lnSpc>
              <a:spcBef>
                <a:spcPts val="15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rump_fs/ext2 replaced by </a:t>
            </a:r>
            <a:r>
              <a:rPr b="1" i="0" lang="en-US" sz="17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lwext4/ext4</a:t>
            </a:r>
            <a:endParaRPr sz="1700"/>
          </a:p>
          <a:p>
            <a:pPr indent="-366350" lvl="0" marL="360000" marR="0" rtl="0" algn="l">
              <a:lnSpc>
                <a:spcPct val="128125"/>
              </a:lnSpc>
              <a:spcBef>
                <a:spcPts val="15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Added </a:t>
            </a:r>
            <a:r>
              <a:rPr b="1" i="0" lang="en-US" sz="17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fsck</a:t>
            </a:r>
            <a:r>
              <a:rPr b="0" i="0" lang="en-US" sz="17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 crash-recovery support</a:t>
            </a:r>
            <a:endParaRPr sz="1700"/>
          </a:p>
          <a:p>
            <a:pPr indent="-366350" lvl="0" marL="360000" marR="0" rtl="0" algn="l">
              <a:lnSpc>
                <a:spcPct val="128125"/>
              </a:lnSpc>
              <a:spcBef>
                <a:spcPts val="15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Direct block session (skip image file)</a:t>
            </a:r>
            <a:endParaRPr sz="1700"/>
          </a:p>
          <a:p>
            <a:pPr indent="-366350" lvl="0" marL="360000" marR="0" rtl="0" algn="l">
              <a:lnSpc>
                <a:spcPct val="128125"/>
              </a:lnSpc>
              <a:spcBef>
                <a:spcPts val="15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All block sizes standardized to 4K</a:t>
            </a:r>
            <a:endParaRPr sz="1700"/>
          </a:p>
          <a:p>
            <a:pPr indent="-366350" lvl="0" marL="360000" marR="0" rtl="0" algn="l">
              <a:lnSpc>
                <a:spcPct val="128125"/>
              </a:lnSpc>
              <a:spcBef>
                <a:spcPts val="15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Graceful shutdown sequence added</a:t>
            </a:r>
            <a:endParaRPr sz="1700"/>
          </a:p>
        </p:txBody>
      </p:sp>
      <p:sp>
        <p:nvSpPr>
          <p:cNvPr id="101" name="Google Shape;101;p11"/>
          <p:cNvSpPr/>
          <p:nvPr/>
        </p:nvSpPr>
        <p:spPr>
          <a:xfrm>
            <a:off x="1095375" y="9110000"/>
            <a:ext cx="13500000" cy="84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37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baseline="30000" i="0" lang="en-US" sz="1600" u="none" cap="none" strike="noStrike">
                <a:solidFill>
                  <a:srgbClr val="9AA3AB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1</a:t>
            </a:r>
            <a:r>
              <a:rPr b="0" i="0" lang="en-US" sz="1600" u="none" cap="none" strike="noStrike">
                <a:solidFill>
                  <a:srgbClr val="9AA3AB"/>
                </a:solidFill>
                <a:latin typeface="IBM Plex Sans"/>
                <a:ea typeface="IBM Plex Sans"/>
                <a:cs typeface="IBM Plex Sans"/>
                <a:sym typeface="IBM Plex Sans"/>
              </a:rPr>
              <a:t>https://github.com/genodelabs/genode/tree/sculpt-25.04/repos/gems/src/app/file_vault</a:t>
            </a:r>
            <a:endParaRPr/>
          </a:p>
          <a:p>
            <a:pPr indent="0" lvl="0" marL="0" marR="0" rtl="0" algn="l">
              <a:lnSpc>
                <a:spcPct val="93750"/>
              </a:lnSpc>
              <a:spcBef>
                <a:spcPts val="60"/>
              </a:spcBef>
              <a:spcAft>
                <a:spcPts val="0"/>
              </a:spcAft>
              <a:buClr>
                <a:srgbClr val="9AA3AB"/>
              </a:buClr>
              <a:buSzPts val="1600"/>
              <a:buFont typeface="IBM Plex Sans Medium"/>
              <a:buNone/>
            </a:pPr>
            <a:r>
              <a:rPr b="1" baseline="30000" i="0" lang="en-US" sz="1600" u="none" cap="none" strike="noStrike">
                <a:solidFill>
                  <a:srgbClr val="9AA3AB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2</a:t>
            </a:r>
            <a:r>
              <a:rPr b="0" i="0" lang="en-US" sz="1600" u="none" cap="none" strike="noStrike">
                <a:solidFill>
                  <a:srgbClr val="9AA3AB"/>
                </a:solidFill>
                <a:latin typeface="IBM Plex Sans"/>
                <a:ea typeface="IBM Plex Sans"/>
                <a:cs typeface="IBM Plex Sans"/>
                <a:sym typeface="IBM Plex Sans"/>
              </a:rPr>
              <a:t>https://github.com/VoronM1522/genode/tree/se/repos/gems/src/app/se_vault</a:t>
            </a:r>
            <a:endParaRPr b="0" i="0" sz="1600" u="none" cap="none" strike="noStrike">
              <a:solidFill>
                <a:srgbClr val="9AA3AB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0" lvl="0" marL="0" rtl="0" algn="l">
              <a:lnSpc>
                <a:spcPct val="93750"/>
              </a:lnSpc>
              <a:spcBef>
                <a:spcPts val="60"/>
              </a:spcBef>
              <a:spcAft>
                <a:spcPts val="0"/>
              </a:spcAft>
              <a:buClr>
                <a:srgbClr val="9AA3AB"/>
              </a:buClr>
              <a:buSzPts val="1600"/>
              <a:buFont typeface="IBM Plex Sans Medium"/>
              <a:buNone/>
            </a:pPr>
            <a:r>
              <a:rPr b="1" baseline="30000" lang="en-US" sz="1600">
                <a:solidFill>
                  <a:srgbClr val="9AA3AB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3</a:t>
            </a:r>
            <a:r>
              <a:rPr b="1" baseline="30000" lang="en-US" sz="1600">
                <a:solidFill>
                  <a:srgbClr val="9AA3AB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 </a:t>
            </a:r>
            <a:r>
              <a:rPr lang="en-US" sz="1600">
                <a:solidFill>
                  <a:srgbClr val="9AA3AB"/>
                </a:solidFill>
                <a:latin typeface="IBM Plex Sans"/>
                <a:ea typeface="IBM Plex Sans"/>
                <a:cs typeface="IBM Plex Sans"/>
                <a:sym typeface="IBM Plex Sans"/>
              </a:rPr>
              <a:t>https://github.com/VoronM1522/genode-wundertuete</a:t>
            </a:r>
            <a:endParaRPr sz="1600">
              <a:solidFill>
                <a:srgbClr val="9AA3AB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0" lvl="0" marL="0" rtl="0" algn="l">
              <a:lnSpc>
                <a:spcPct val="93750"/>
              </a:lnSpc>
              <a:spcBef>
                <a:spcPts val="60"/>
              </a:spcBef>
              <a:spcAft>
                <a:spcPts val="0"/>
              </a:spcAft>
              <a:buClr>
                <a:srgbClr val="9AA3AB"/>
              </a:buClr>
              <a:buSzPts val="1600"/>
              <a:buFont typeface="IBM Plex Sans Medium"/>
              <a:buNone/>
            </a:pPr>
            <a:r>
              <a:rPr b="1" baseline="30000" lang="en-US" sz="1600">
                <a:solidFill>
                  <a:srgbClr val="9AA3AB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4</a:t>
            </a:r>
            <a:r>
              <a:rPr lang="en-US" sz="1600">
                <a:solidFill>
                  <a:srgbClr val="9AA3AB"/>
                </a:solidFill>
                <a:latin typeface="IBM Plex Sans"/>
                <a:ea typeface="IBM Plex Sans"/>
                <a:cs typeface="IBM Plex Sans"/>
                <a:sym typeface="IBM Plex Sans"/>
              </a:rPr>
              <a:t>https://github.com/VoronM1522/phantomuserland-snapper</a:t>
            </a:r>
            <a:endParaRPr sz="1600">
              <a:solidFill>
                <a:srgbClr val="9AA3AB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0" lvl="0" marL="0" rtl="0" algn="l">
              <a:lnSpc>
                <a:spcPct val="93750"/>
              </a:lnSpc>
              <a:spcBef>
                <a:spcPts val="60"/>
              </a:spcBef>
              <a:spcAft>
                <a:spcPts val="0"/>
              </a:spcAft>
              <a:buClr>
                <a:srgbClr val="9AA3AB"/>
              </a:buClr>
              <a:buSzPts val="1600"/>
              <a:buFont typeface="IBM Plex Sans Medium"/>
              <a:buNone/>
            </a:pPr>
            <a:r>
              <a:rPr b="1" baseline="30000" lang="en-US" sz="1600">
                <a:solidFill>
                  <a:srgbClr val="9AA3AB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5 </a:t>
            </a:r>
            <a:r>
              <a:rPr lang="en-US" sz="1600">
                <a:solidFill>
                  <a:srgbClr val="9AA3AB"/>
                </a:solidFill>
                <a:latin typeface="IBM Plex Sans"/>
                <a:ea typeface="IBM Plex Sans"/>
                <a:cs typeface="IBM Plex Sans"/>
                <a:sym typeface="IBM Plex Sans"/>
              </a:rPr>
              <a:t>https://github.com/VoronM1522/snapper</a:t>
            </a:r>
            <a:endParaRPr sz="1600">
              <a:solidFill>
                <a:srgbClr val="9AA3AB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0" lvl="0" marL="0" rtl="0" algn="l">
              <a:lnSpc>
                <a:spcPct val="93750"/>
              </a:lnSpc>
              <a:spcBef>
                <a:spcPts val="60"/>
              </a:spcBef>
              <a:spcAft>
                <a:spcPts val="0"/>
              </a:spcAft>
              <a:buClr>
                <a:srgbClr val="9AA3AB"/>
              </a:buClr>
              <a:buSzPts val="1600"/>
              <a:buFont typeface="IBM Plex Sans Medium"/>
              <a:buNone/>
            </a:pPr>
            <a:r>
              <a:rPr b="1" baseline="30000" lang="en-US" sz="1600">
                <a:solidFill>
                  <a:srgbClr val="9AA3AB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6</a:t>
            </a:r>
            <a:r>
              <a:rPr lang="en-US" sz="1600">
                <a:solidFill>
                  <a:srgbClr val="9AA3AB"/>
                </a:solidFill>
                <a:latin typeface="IBM Plex Sans"/>
                <a:ea typeface="IBM Plex Sans"/>
                <a:cs typeface="IBM Plex Sans"/>
                <a:sym typeface="IBM Plex Sans"/>
              </a:rPr>
              <a:t>https://github.com/VoronM1522/genode/tree/se/repos/os</a:t>
            </a:r>
            <a:endParaRPr sz="1600">
              <a:solidFill>
                <a:srgbClr val="9AA3AB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pic>
        <p:nvPicPr>
          <p:cNvPr id="102" name="Google Shape;102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900000" y="780000"/>
            <a:ext cx="2480000" cy="720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1"/>
          <p:cNvSpPr/>
          <p:nvPr/>
        </p:nvSpPr>
        <p:spPr>
          <a:xfrm>
            <a:off x="16400000" y="9550000"/>
            <a:ext cx="15000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A3AB"/>
              </a:buClr>
              <a:buSzPts val="1300"/>
              <a:buFont typeface="IBM Plex Mono"/>
              <a:buNone/>
            </a:pPr>
            <a:r>
              <a:rPr lang="en-US" sz="1300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9</a:t>
            </a:r>
            <a:r>
              <a:rPr b="0" i="0" lang="en-US" sz="1300" u="none" cap="none" strike="noStrike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/</a:t>
            </a:r>
            <a:r>
              <a:rPr lang="en-US" sz="1300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  <a:endParaRPr/>
          </a:p>
        </p:txBody>
      </p:sp>
      <p:sp>
        <p:nvSpPr>
          <p:cNvPr id="104" name="Google Shape;104;p11"/>
          <p:cNvSpPr/>
          <p:nvPr/>
        </p:nvSpPr>
        <p:spPr>
          <a:xfrm>
            <a:off x="1095375" y="5925700"/>
            <a:ext cx="7700100" cy="2393700"/>
          </a:xfrm>
          <a:prstGeom prst="roundRect">
            <a:avLst>
              <a:gd fmla="val 6000" name="adj"/>
            </a:avLst>
          </a:prstGeom>
          <a:solidFill>
            <a:srgbClr val="EEF1F4"/>
          </a:solidFill>
          <a:ln>
            <a:noFill/>
          </a:ln>
        </p:spPr>
        <p:txBody>
          <a:bodyPr anchorCtr="0" anchor="t" bIns="364000" lIns="520000" spcFirstLastPara="1" rIns="520000" wrap="square" tIns="364000">
            <a:noAutofit/>
          </a:bodyPr>
          <a:lstStyle/>
          <a:p>
            <a:pPr indent="0" lvl="0" marL="0" marR="0" rtl="0" algn="l">
              <a:lnSpc>
                <a:spcPct val="126315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Montserrat SemiBold"/>
              <a:buNone/>
            </a:pPr>
            <a:r>
              <a:rPr b="1" lang="en-US" sz="1900">
                <a:solidFill>
                  <a:srgbClr val="1A1A1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Related fixes &amp; Adaptations:</a:t>
            </a:r>
            <a:endParaRPr b="1" i="0" sz="1900" u="none" cap="none" strike="noStrike">
              <a:solidFill>
                <a:srgbClr val="1A1A1A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-380001" lvl="0" marL="380001" marR="0" rtl="0" algn="l">
              <a:lnSpc>
                <a:spcPct val="126470"/>
              </a:lnSpc>
              <a:spcBef>
                <a:spcPts val="300"/>
              </a:spcBef>
              <a:spcAft>
                <a:spcPts val="0"/>
              </a:spcAft>
              <a:buClr>
                <a:srgbClr val="1A1A1A"/>
              </a:buClr>
              <a:buSzPts val="1700"/>
              <a:buFont typeface="Arial"/>
              <a:buChar char="•"/>
            </a:pPr>
            <a:r>
              <a:rPr lang="en-US" sz="17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lwext4</a:t>
            </a:r>
            <a:r>
              <a:rPr baseline="30000" lang="en-US" sz="17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3</a:t>
            </a:r>
            <a:r>
              <a:rPr lang="en-US" sz="17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 (</a:t>
            </a:r>
            <a:r>
              <a:rPr lang="en-US" sz="17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ftruncate and sync</a:t>
            </a:r>
            <a:r>
              <a:rPr lang="en-US">
                <a:solidFill>
                  <a:schemeClr val="dk1"/>
                </a:solidFill>
              </a:rPr>
              <a:t>)</a:t>
            </a:r>
            <a:endParaRPr>
              <a:solidFill>
                <a:schemeClr val="dk1"/>
              </a:solidFill>
            </a:endParaRPr>
          </a:p>
          <a:p>
            <a:pPr indent="-380001" lvl="0" marL="380001" marR="0" rtl="0" algn="l">
              <a:lnSpc>
                <a:spcPct val="12647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700"/>
              <a:buChar char="•"/>
            </a:pPr>
            <a:r>
              <a:rPr lang="en-US" sz="17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isomem</a:t>
            </a:r>
            <a:r>
              <a:rPr baseline="30000" lang="en-US" sz="17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4</a:t>
            </a:r>
            <a:r>
              <a:rPr lang="en-US" sz="17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 (</a:t>
            </a:r>
            <a:r>
              <a:rPr lang="en-US" sz="17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power-off button callback and graceful shutdown</a:t>
            </a:r>
            <a:r>
              <a:rPr lang="en-US" sz="17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)</a:t>
            </a:r>
            <a:endParaRPr sz="1700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380001" lvl="0" marL="380001" marR="0" rtl="0" algn="l">
              <a:lnSpc>
                <a:spcPct val="12647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700"/>
              <a:buChar char="•"/>
            </a:pPr>
            <a:r>
              <a:rPr lang="en-US" sz="17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snapper</a:t>
            </a:r>
            <a:r>
              <a:rPr baseline="30000" lang="en-US" sz="17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5</a:t>
            </a:r>
            <a:r>
              <a:rPr lang="en-US" sz="17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 (client counter and graceful shutdown)</a:t>
            </a:r>
            <a:endParaRPr sz="1700">
              <a:solidFill>
                <a:srgbClr val="1A1A1A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380001" lvl="0" marL="380001" marR="0" rtl="0" algn="l">
              <a:lnSpc>
                <a:spcPct val="12647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700"/>
              <a:buChar char="•"/>
            </a:pPr>
            <a:r>
              <a:rPr lang="en-US" sz="17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vfs</a:t>
            </a:r>
            <a:r>
              <a:rPr baseline="30000" lang="en-US" sz="17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6</a:t>
            </a:r>
            <a:r>
              <a:rPr lang="en-US" sz="17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 (</a:t>
            </a:r>
            <a:r>
              <a:rPr lang="en-US" sz="17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client counter, graceful shutdown and clean unmount</a:t>
            </a:r>
            <a:r>
              <a:rPr lang="en-US" sz="17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)</a:t>
            </a:r>
            <a:endParaRPr/>
          </a:p>
        </p:txBody>
      </p:sp>
      <p:sp>
        <p:nvSpPr>
          <p:cNvPr id="105" name="Google Shape;105;p11"/>
          <p:cNvSpPr/>
          <p:nvPr/>
        </p:nvSpPr>
        <p:spPr>
          <a:xfrm>
            <a:off x="9395375" y="5925700"/>
            <a:ext cx="7754700" cy="2393700"/>
          </a:xfrm>
          <a:prstGeom prst="roundRect">
            <a:avLst>
              <a:gd fmla="val 6000" name="adj"/>
            </a:avLst>
          </a:prstGeom>
          <a:solidFill>
            <a:srgbClr val="40BA21"/>
          </a:solidFill>
          <a:ln>
            <a:noFill/>
          </a:ln>
        </p:spPr>
        <p:txBody>
          <a:bodyPr anchorCtr="0" anchor="t" bIns="364000" lIns="520000" spcFirstLastPara="1" rIns="520000" wrap="square" tIns="364000">
            <a:noAutofit/>
          </a:bodyPr>
          <a:lstStyle/>
          <a:p>
            <a:pPr indent="0" lvl="0" marL="0" marR="0" rtl="0" algn="l">
              <a:lnSpc>
                <a:spcPct val="126315"/>
              </a:lnSpc>
              <a:spcBef>
                <a:spcPts val="300"/>
              </a:spcBef>
              <a:spcAft>
                <a:spcPts val="0"/>
              </a:spcAft>
              <a:buClr>
                <a:srgbClr val="FFFFFF"/>
              </a:buClr>
              <a:buSzPts val="1900"/>
              <a:buFont typeface="Montserrat SemiBold"/>
              <a:buNone/>
            </a:pPr>
            <a:r>
              <a:rPr b="1" lang="en-US" sz="190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Optimization:</a:t>
            </a:r>
            <a:endParaRPr b="1" i="0" sz="1900" u="none" cap="none" strike="noStrike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0" lvl="0" marL="0" rtl="0" algn="l">
              <a:lnSpc>
                <a:spcPct val="12631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7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rPr>
              <a:t>U</a:t>
            </a:r>
            <a:r>
              <a:rPr lang="en-US" sz="17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rPr>
              <a:t>sing a “Block” session directly — initialization time reduced from ≈20 min to ≈1 min</a:t>
            </a:r>
            <a:endParaRPr sz="17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2"/>
          <p:cNvSpPr/>
          <p:nvPr/>
        </p:nvSpPr>
        <p:spPr>
          <a:xfrm>
            <a:off x="1095375" y="900000"/>
            <a:ext cx="13000000" cy="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4285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800"/>
              <a:buFont typeface="Montserrat"/>
              <a:buNone/>
            </a:pPr>
            <a:r>
              <a:rPr b="1" i="0" lang="en-US" sz="2800" u="none" cap="none" strike="noStrike">
                <a:solidFill>
                  <a:srgbClr val="1A1A1A"/>
                </a:solidFill>
                <a:latin typeface="Montserrat"/>
                <a:ea typeface="Montserrat"/>
                <a:cs typeface="Montserrat"/>
                <a:sym typeface="Montserrat"/>
              </a:rPr>
              <a:t>System Architecture</a:t>
            </a:r>
            <a:endParaRPr/>
          </a:p>
        </p:txBody>
      </p:sp>
      <p:pic>
        <p:nvPicPr>
          <p:cNvPr id="111" name="Google Shape;111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343897" y="1600000"/>
            <a:ext cx="9751478" cy="8295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4900000" y="780000"/>
            <a:ext cx="2480000" cy="720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2"/>
          <p:cNvSpPr/>
          <p:nvPr/>
        </p:nvSpPr>
        <p:spPr>
          <a:xfrm>
            <a:off x="16400000" y="9550000"/>
            <a:ext cx="15000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A3AB"/>
              </a:buClr>
              <a:buSzPts val="1300"/>
              <a:buFont typeface="IBM Plex Mono"/>
              <a:buNone/>
            </a:pPr>
            <a:r>
              <a:rPr b="0" i="0" lang="en-US" sz="1300" u="none" cap="none" strike="noStrike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1</a:t>
            </a:r>
            <a:r>
              <a:rPr lang="en-US" sz="1300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0</a:t>
            </a:r>
            <a:r>
              <a:rPr b="0" i="0" lang="en-US" sz="1300" u="none" cap="none" strike="noStrike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/</a:t>
            </a:r>
            <a:r>
              <a:rPr lang="en-US" sz="1300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3"/>
          <p:cNvSpPr/>
          <p:nvPr/>
        </p:nvSpPr>
        <p:spPr>
          <a:xfrm>
            <a:off x="1095375" y="900000"/>
            <a:ext cx="13000000" cy="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4285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800"/>
              <a:buFont typeface="Montserrat"/>
              <a:buNone/>
            </a:pPr>
            <a:r>
              <a:rPr b="1" lang="en-US" sz="2800">
                <a:solidFill>
                  <a:srgbClr val="1A1A1A"/>
                </a:solidFill>
                <a:latin typeface="Montserrat"/>
                <a:ea typeface="Montserrat"/>
                <a:cs typeface="Montserrat"/>
                <a:sym typeface="Montserrat"/>
              </a:rPr>
              <a:t>Implementation results</a:t>
            </a:r>
            <a:endParaRPr/>
          </a:p>
        </p:txBody>
      </p:sp>
      <p:sp>
        <p:nvSpPr>
          <p:cNvPr id="119" name="Google Shape;119;p13"/>
          <p:cNvSpPr/>
          <p:nvPr/>
        </p:nvSpPr>
        <p:spPr>
          <a:xfrm>
            <a:off x="1095375" y="2167875"/>
            <a:ext cx="16043700" cy="1002300"/>
          </a:xfrm>
          <a:prstGeom prst="roundRect">
            <a:avLst>
              <a:gd fmla="val 6000" name="adj"/>
            </a:avLst>
          </a:prstGeom>
          <a:solidFill>
            <a:srgbClr val="40BA21"/>
          </a:solidFill>
          <a:ln>
            <a:noFill/>
          </a:ln>
        </p:spPr>
        <p:txBody>
          <a:bodyPr anchorCtr="0" anchor="ctr" bIns="434000" lIns="620000" spcFirstLastPara="1" rIns="620000" wrap="square" tIns="434000">
            <a:noAutofit/>
          </a:bodyPr>
          <a:lstStyle/>
          <a:p>
            <a:pPr indent="0" lvl="0" marL="0" marR="0" rtl="0" algn="l">
              <a:lnSpc>
                <a:spcPct val="13157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900" u="none" cap="none" strike="noStrike">
                <a:solidFill>
                  <a:srgbClr val="FFFFFF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The system was running on a Linux host inside a Podman container. Virtualized using QEMU</a:t>
            </a:r>
            <a:r>
              <a:rPr lang="en-US" sz="1900">
                <a:solidFill>
                  <a:srgbClr val="FFFFFF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 with options for AES/SHA hardware acceleration and virtual NVMe usage </a:t>
            </a:r>
            <a:endParaRPr/>
          </a:p>
        </p:txBody>
      </p:sp>
      <p:sp>
        <p:nvSpPr>
          <p:cNvPr id="120" name="Google Shape;120;p13"/>
          <p:cNvSpPr/>
          <p:nvPr/>
        </p:nvSpPr>
        <p:spPr>
          <a:xfrm>
            <a:off x="1095363" y="3566900"/>
            <a:ext cx="7119900" cy="2237400"/>
          </a:xfrm>
          <a:prstGeom prst="roundRect">
            <a:avLst>
              <a:gd fmla="val 6000" name="adj"/>
            </a:avLst>
          </a:prstGeom>
          <a:solidFill>
            <a:srgbClr val="EEF1F4"/>
          </a:solidFill>
          <a:ln>
            <a:noFill/>
          </a:ln>
        </p:spPr>
        <p:txBody>
          <a:bodyPr anchorCtr="0" anchor="ctr" bIns="392000" lIns="560000" spcFirstLastPara="1" rIns="560000" wrap="square" tIns="392000">
            <a:noAutofit/>
          </a:bodyPr>
          <a:lstStyle/>
          <a:p>
            <a:pPr indent="0" lvl="0" marL="0" marR="0" rtl="0" algn="l">
              <a:lnSpc>
                <a:spcPct val="1174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2E8B16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All functional checks were passed</a:t>
            </a:r>
            <a:endParaRPr/>
          </a:p>
          <a:p>
            <a:pPr indent="-342900" lvl="0" marL="457200" rtl="0" algn="l">
              <a:lnSpc>
                <a:spcPct val="95833"/>
              </a:lnSpc>
              <a:spcBef>
                <a:spcPts val="0"/>
              </a:spcBef>
              <a:spcAft>
                <a:spcPts val="0"/>
              </a:spcAft>
              <a:buSzPts val="1800"/>
              <a:buFont typeface="IBM Plex Sans"/>
              <a:buChar char="●"/>
            </a:pPr>
            <a:r>
              <a:rPr lang="en-US" sz="18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Normal boot / shutdown / restore cycle</a:t>
            </a:r>
            <a:endParaRPr sz="1800">
              <a:solidFill>
                <a:srgbClr val="1A1A1A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336550" lvl="0" marL="457200" rtl="0" algn="l">
              <a:lnSpc>
                <a:spcPct val="95833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700"/>
              <a:buFont typeface="IBM Plex Sans"/>
              <a:buChar char="●"/>
            </a:pPr>
            <a:r>
              <a:rPr lang="en-US" sz="18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Encrypted image cannot be mounted without key</a:t>
            </a:r>
            <a:endParaRPr sz="1800">
              <a:solidFill>
                <a:srgbClr val="1A1A1A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342900" lvl="0" marL="457200" rtl="0" algn="l">
              <a:lnSpc>
                <a:spcPct val="95833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800"/>
              <a:buFont typeface="IBM Plex Sans"/>
              <a:buChar char="●"/>
            </a:pPr>
            <a:r>
              <a:rPr lang="en-US" sz="18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Key/hash replacement attack — superblock not detected</a:t>
            </a:r>
            <a:endParaRPr sz="1800">
              <a:solidFill>
                <a:srgbClr val="1A1A1A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342900" lvl="0" marL="457200" rtl="0" algn="l">
              <a:lnSpc>
                <a:spcPct val="95833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800"/>
              <a:buFont typeface="IBM Plex Sans"/>
              <a:buChar char="●"/>
            </a:pPr>
            <a:r>
              <a:rPr lang="en-US" sz="18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Crash recovery via </a:t>
            </a:r>
            <a:r>
              <a:rPr i="1" lang="en-US" sz="18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fsck</a:t>
            </a:r>
            <a:endParaRPr sz="1800">
              <a:solidFill>
                <a:srgbClr val="1A1A1A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pic>
        <p:nvPicPr>
          <p:cNvPr id="121" name="Google Shape;121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900000" y="780000"/>
            <a:ext cx="2480000" cy="72050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3"/>
          <p:cNvSpPr/>
          <p:nvPr/>
        </p:nvSpPr>
        <p:spPr>
          <a:xfrm>
            <a:off x="16400000" y="9550000"/>
            <a:ext cx="15000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A3AB"/>
              </a:buClr>
              <a:buSzPts val="1300"/>
              <a:buFont typeface="IBM Plex Mono"/>
              <a:buNone/>
            </a:pPr>
            <a:r>
              <a:rPr b="0" i="0" lang="en-US" sz="1300" u="none" cap="none" strike="noStrike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1</a:t>
            </a:r>
            <a:r>
              <a:rPr lang="en-US" sz="1300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1</a:t>
            </a:r>
            <a:r>
              <a:rPr b="0" i="0" lang="en-US" sz="1300" u="none" cap="none" strike="noStrike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/</a:t>
            </a:r>
            <a:r>
              <a:rPr lang="en-US" sz="1300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  <a:endParaRPr/>
          </a:p>
        </p:txBody>
      </p:sp>
      <p:graphicFrame>
        <p:nvGraphicFramePr>
          <p:cNvPr id="123" name="Google Shape;123;p13"/>
          <p:cNvGraphicFramePr/>
          <p:nvPr/>
        </p:nvGraphicFramePr>
        <p:xfrm>
          <a:off x="1095375" y="620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{E1DB251A-98A4-41E1-A828-40190C7FFB22}</a:tableStyleId>
              </a:tblPr>
              <a:tblGrid>
                <a:gridCol w="2152050"/>
                <a:gridCol w="1953850"/>
                <a:gridCol w="1499500"/>
                <a:gridCol w="1514475"/>
              </a:tblGrid>
              <a:tr h="745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700" u="none" cap="none" strike="noStrike">
                          <a:solidFill>
                            <a:srgbClr val="FFFFFF"/>
                          </a:solidFill>
                          <a:latin typeface="Montserrat SemiBold"/>
                          <a:ea typeface="Montserrat SemiBold"/>
                          <a:cs typeface="Montserrat SemiBold"/>
                          <a:sym typeface="Montserrat SemiBold"/>
                        </a:rPr>
                        <a:t>Operation</a:t>
                      </a:r>
                      <a:endParaRPr/>
                    </a:p>
                  </a:txBody>
                  <a:tcPr marT="80000" marB="80000" marR="120000" marL="120000" anchor="ctr">
                    <a:solidFill>
                      <a:srgbClr val="40BA2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700" u="none" cap="none" strike="noStrike">
                          <a:solidFill>
                            <a:srgbClr val="FFFFFF"/>
                          </a:solidFill>
                          <a:latin typeface="Montserrat SemiBold"/>
                          <a:ea typeface="Montserrat SemiBold"/>
                          <a:cs typeface="Montserrat SemiBold"/>
                          <a:sym typeface="Montserrat SemiBold"/>
                        </a:rPr>
                        <a:t>Without enc.</a:t>
                      </a:r>
                      <a:endParaRPr/>
                    </a:p>
                  </a:txBody>
                  <a:tcPr marT="80000" marB="80000" marR="120000" marL="120000" anchor="ctr">
                    <a:solidFill>
                      <a:srgbClr val="40BA2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700" u="none" cap="none" strike="noStrike">
                          <a:solidFill>
                            <a:srgbClr val="FFFFFF"/>
                          </a:solidFill>
                          <a:latin typeface="Montserrat SemiBold"/>
                          <a:ea typeface="Montserrat SemiBold"/>
                          <a:cs typeface="Montserrat SemiBold"/>
                          <a:sym typeface="Montserrat SemiBold"/>
                        </a:rPr>
                        <a:t>With enc.</a:t>
                      </a:r>
                      <a:endParaRPr/>
                    </a:p>
                  </a:txBody>
                  <a:tcPr marT="80000" marB="80000" marR="120000" marL="120000" anchor="ctr">
                    <a:solidFill>
                      <a:srgbClr val="40BA2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700" u="none" cap="none" strike="noStrike">
                          <a:solidFill>
                            <a:srgbClr val="FFFFFF"/>
                          </a:solidFill>
                          <a:latin typeface="Montserrat SemiBold"/>
                          <a:ea typeface="Montserrat SemiBold"/>
                          <a:cs typeface="Montserrat SemiBold"/>
                          <a:sym typeface="Montserrat SemiBold"/>
                        </a:rPr>
                        <a:t>Overhead</a:t>
                      </a:r>
                      <a:endParaRPr/>
                    </a:p>
                  </a:txBody>
                  <a:tcPr marT="80000" marB="80000" marR="120000" marL="120000" anchor="ctr">
                    <a:solidFill>
                      <a:srgbClr val="40BA21"/>
                    </a:solidFill>
                  </a:tcPr>
                </a:tc>
              </a:tr>
              <a:tr h="745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u="none" cap="none" strike="noStrike">
                          <a:solidFill>
                            <a:srgbClr val="1A1A1A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Snapshot creation</a:t>
                      </a:r>
                      <a:endParaRPr/>
                    </a:p>
                  </a:txBody>
                  <a:tcPr marT="80000" marB="80000" marR="120000" marL="1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u="none" cap="none" strike="noStrike">
                          <a:solidFill>
                            <a:srgbClr val="1A1A1A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2.10 s</a:t>
                      </a:r>
                      <a:endParaRPr/>
                    </a:p>
                  </a:txBody>
                  <a:tcPr marT="80000" marB="80000" marR="120000" marL="1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u="none" cap="none" strike="noStrike">
                          <a:solidFill>
                            <a:srgbClr val="1A1A1A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51.00 s</a:t>
                      </a:r>
                      <a:endParaRPr/>
                    </a:p>
                  </a:txBody>
                  <a:tcPr marT="80000" marB="80000" marR="120000" marL="1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700" u="none" cap="none" strike="noStrike">
                          <a:solidFill>
                            <a:srgbClr val="2E8B16"/>
                          </a:solidFill>
                          <a:latin typeface="Montserrat SemiBold"/>
                          <a:ea typeface="Montserrat SemiBold"/>
                          <a:cs typeface="Montserrat SemiBold"/>
                          <a:sym typeface="Montserrat SemiBold"/>
                        </a:rPr>
                        <a:t>≈ 24×</a:t>
                      </a:r>
                      <a:endParaRPr/>
                    </a:p>
                  </a:txBody>
                  <a:tcPr marT="80000" marB="80000" marR="120000" marL="120000" anchor="ctr">
                    <a:solidFill>
                      <a:srgbClr val="FFFFFF"/>
                    </a:solidFill>
                  </a:tcPr>
                </a:tc>
              </a:tr>
              <a:tr h="745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u="none" cap="none" strike="noStrike">
                          <a:solidFill>
                            <a:srgbClr val="1A1A1A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Snapshot restore</a:t>
                      </a:r>
                      <a:endParaRPr/>
                    </a:p>
                  </a:txBody>
                  <a:tcPr marT="80000" marB="80000" marR="120000" marL="120000" anchor="ctr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u="none" cap="none" strike="noStrike">
                          <a:solidFill>
                            <a:srgbClr val="1A1A1A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2.50 s</a:t>
                      </a:r>
                      <a:endParaRPr/>
                    </a:p>
                  </a:txBody>
                  <a:tcPr marT="80000" marB="80000" marR="120000" marL="120000" anchor="ctr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u="none" cap="none" strike="noStrike">
                          <a:solidFill>
                            <a:srgbClr val="1A1A1A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27.30 s</a:t>
                      </a:r>
                      <a:endParaRPr/>
                    </a:p>
                  </a:txBody>
                  <a:tcPr marT="80000" marB="80000" marR="120000" marL="120000" anchor="ctr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700" u="none" cap="none" strike="noStrike">
                          <a:solidFill>
                            <a:srgbClr val="2E8B16"/>
                          </a:solidFill>
                          <a:latin typeface="Montserrat SemiBold"/>
                          <a:ea typeface="Montserrat SemiBold"/>
                          <a:cs typeface="Montserrat SemiBold"/>
                          <a:sym typeface="Montserrat SemiBold"/>
                        </a:rPr>
                        <a:t>≈ 11×</a:t>
                      </a:r>
                      <a:endParaRPr/>
                    </a:p>
                  </a:txBody>
                  <a:tcPr marT="80000" marB="80000" marR="120000" marL="120000" anchor="ctr">
                    <a:solidFill>
                      <a:srgbClr val="EEF1F4"/>
                    </a:solidFill>
                  </a:tcPr>
                </a:tc>
              </a:tr>
            </a:tbl>
          </a:graphicData>
        </a:graphic>
      </p:graphicFrame>
      <p:sp>
        <p:nvSpPr>
          <p:cNvPr id="124" name="Google Shape;124;p13"/>
          <p:cNvSpPr/>
          <p:nvPr/>
        </p:nvSpPr>
        <p:spPr>
          <a:xfrm>
            <a:off x="10019175" y="3566900"/>
            <a:ext cx="7119900" cy="2237400"/>
          </a:xfrm>
          <a:prstGeom prst="roundRect">
            <a:avLst>
              <a:gd fmla="val 6000" name="adj"/>
            </a:avLst>
          </a:prstGeom>
          <a:solidFill>
            <a:srgbClr val="EEF1F4"/>
          </a:solidFill>
          <a:ln>
            <a:noFill/>
          </a:ln>
        </p:spPr>
        <p:txBody>
          <a:bodyPr anchorCtr="0" anchor="ctr" bIns="392000" lIns="560000" spcFirstLastPara="1" rIns="560000" wrap="square" tIns="392000">
            <a:noAutofit/>
          </a:bodyPr>
          <a:lstStyle/>
          <a:p>
            <a:pPr indent="0" lvl="0" marL="0" marR="0" rtl="0" algn="l">
              <a:lnSpc>
                <a:spcPct val="11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2E8B16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Performance overhead </a:t>
            </a:r>
            <a:r>
              <a:rPr b="1" lang="en-US" sz="2000">
                <a:solidFill>
                  <a:srgbClr val="2E8B16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measurement</a:t>
            </a:r>
            <a:r>
              <a:rPr b="1" lang="en-US" sz="2000">
                <a:solidFill>
                  <a:srgbClr val="2E8B16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set up</a:t>
            </a:r>
            <a:endParaRPr/>
          </a:p>
          <a:p>
            <a:pPr indent="0" lvl="0" marL="0" rtl="0" algn="l">
              <a:lnSpc>
                <a:spcPct val="125714"/>
              </a:lnSpc>
              <a:spcBef>
                <a:spcPts val="0"/>
              </a:spcBef>
              <a:spcAft>
                <a:spcPts val="0"/>
              </a:spcAft>
              <a:buClr>
                <a:srgbClr val="2E8B16"/>
              </a:buClr>
              <a:buSzPts val="1750"/>
              <a:buFont typeface="Montserrat SemiBold"/>
              <a:buNone/>
            </a:pPr>
            <a:r>
              <a:rPr lang="en-US" sz="18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F</a:t>
            </a:r>
            <a:r>
              <a:rPr lang="en-US" sz="18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irst snapshot creation and reboot with restore, 5 runs each </a:t>
            </a:r>
            <a:r>
              <a:rPr i="1" lang="en-US" sz="18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(no statistical confirmation)</a:t>
            </a:r>
            <a:endParaRPr i="1" sz="1800">
              <a:solidFill>
                <a:srgbClr val="1A1A1A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125" name="Google Shape;125;p13"/>
          <p:cNvSpPr/>
          <p:nvPr/>
        </p:nvSpPr>
        <p:spPr>
          <a:xfrm>
            <a:off x="10019175" y="6201025"/>
            <a:ext cx="7119900" cy="2237400"/>
          </a:xfrm>
          <a:prstGeom prst="roundRect">
            <a:avLst>
              <a:gd fmla="val 6000" name="adj"/>
            </a:avLst>
          </a:prstGeom>
          <a:solidFill>
            <a:srgbClr val="40BA21"/>
          </a:solidFill>
          <a:ln>
            <a:noFill/>
          </a:ln>
        </p:spPr>
        <p:txBody>
          <a:bodyPr anchorCtr="0" anchor="ctr" bIns="364000" lIns="520000" spcFirstLastPara="1" rIns="520000" wrap="square" tIns="364000">
            <a:noAutofit/>
          </a:bodyPr>
          <a:lstStyle/>
          <a:p>
            <a:pPr indent="0" lvl="0" marL="0" marR="0" rtl="0" algn="l">
              <a:lnSpc>
                <a:spcPct val="12631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00"/>
              <a:buFont typeface="Montserrat SemiBold"/>
              <a:buNone/>
            </a:pPr>
            <a:r>
              <a:rPr lang="en-US" sz="2000">
                <a:solidFill>
                  <a:srgbClr val="FFFFFF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The reason requires additional investigation</a:t>
            </a:r>
            <a:endParaRPr sz="2000">
              <a:solidFill>
                <a:srgbClr val="FFFFFF"/>
              </a:solidFill>
              <a:latin typeface="IBM Plex Sans Medium"/>
              <a:ea typeface="IBM Plex Sans Medium"/>
              <a:cs typeface="IBM Plex Sans Medium"/>
              <a:sym typeface="IBM Plex Sans Medium"/>
            </a:endParaRPr>
          </a:p>
          <a:p>
            <a:pPr indent="0" lvl="0" marL="0" marR="0" rtl="0" algn="l">
              <a:lnSpc>
                <a:spcPct val="12631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00"/>
              <a:buFont typeface="Montserrat SemiBold"/>
              <a:buNone/>
            </a:pPr>
            <a:r>
              <a:rPr b="1" lang="en-US" sz="200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Possible:</a:t>
            </a:r>
            <a:endParaRPr b="1" sz="2000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-342900" lvl="0" marL="457200" marR="0" rtl="0" algn="l">
              <a:lnSpc>
                <a:spcPct val="127777"/>
              </a:lnSpc>
              <a:spcBef>
                <a:spcPts val="25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IBM Plex Sans"/>
              <a:buChar char="●"/>
            </a:pPr>
            <a:r>
              <a:rPr b="0" i="0" lang="en-US" sz="18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Known Tresor limitation — no multithreading optimization and high complexity</a:t>
            </a:r>
            <a:endParaRPr sz="1800">
              <a:solidFill>
                <a:srgbClr val="FFFFFF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342900" lvl="0" marL="457200" marR="0" rtl="0" algn="l">
              <a:lnSpc>
                <a:spcPct val="127777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IBM Plex Sans"/>
              <a:buChar char="●"/>
            </a:pPr>
            <a:r>
              <a:rPr lang="en-US" sz="18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Scheduling issues</a:t>
            </a:r>
            <a:endParaRPr sz="1800">
              <a:solidFill>
                <a:srgbClr val="FFFFFF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342900" lvl="0" marL="457200" marR="0" rtl="0" algn="l">
              <a:lnSpc>
                <a:spcPct val="127777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IBM Plex Sans"/>
              <a:buChar char="●"/>
            </a:pPr>
            <a:r>
              <a:rPr lang="en-US" sz="18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Multi-level implementation</a:t>
            </a:r>
            <a:endParaRPr sz="1800">
              <a:solidFill>
                <a:srgbClr val="FFFFFF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4"/>
          <p:cNvSpPr/>
          <p:nvPr/>
        </p:nvSpPr>
        <p:spPr>
          <a:xfrm>
            <a:off x="1095375" y="900000"/>
            <a:ext cx="13000000" cy="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4285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800"/>
              <a:buFont typeface="Montserrat"/>
              <a:buNone/>
            </a:pPr>
            <a:r>
              <a:rPr b="1" lang="en-US" sz="2800">
                <a:solidFill>
                  <a:srgbClr val="1A1A1A"/>
                </a:solidFill>
                <a:latin typeface="Montserrat"/>
                <a:ea typeface="Montserrat"/>
                <a:cs typeface="Montserrat"/>
                <a:sym typeface="Montserrat"/>
              </a:rPr>
              <a:t>Evaluation &amp; </a:t>
            </a:r>
            <a:r>
              <a:rPr b="1" i="0" lang="en-US" sz="2800" u="none" cap="none" strike="noStrike">
                <a:solidFill>
                  <a:srgbClr val="1A1A1A"/>
                </a:solidFill>
                <a:latin typeface="Montserrat"/>
                <a:ea typeface="Montserrat"/>
                <a:cs typeface="Montserrat"/>
                <a:sym typeface="Montserrat"/>
              </a:rPr>
              <a:t>Conclusion</a:t>
            </a:r>
            <a:endParaRPr b="1" i="0" sz="2800" u="none" cap="none" strike="noStrike">
              <a:solidFill>
                <a:srgbClr val="1A1A1A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31" name="Google Shape;131;p14"/>
          <p:cNvSpPr/>
          <p:nvPr/>
        </p:nvSpPr>
        <p:spPr>
          <a:xfrm>
            <a:off x="9493800" y="5541400"/>
            <a:ext cx="8049900" cy="4008600"/>
          </a:xfrm>
          <a:prstGeom prst="roundRect">
            <a:avLst>
              <a:gd fmla="val 6000" name="adj"/>
            </a:avLst>
          </a:prstGeom>
          <a:solidFill>
            <a:srgbClr val="40BA21"/>
          </a:solidFill>
          <a:ln>
            <a:noFill/>
          </a:ln>
        </p:spPr>
        <p:txBody>
          <a:bodyPr anchorCtr="0" anchor="ctr" bIns="434000" lIns="620000" spcFirstLastPara="1" rIns="620000" wrap="square" tIns="434000">
            <a:noAutofit/>
          </a:bodyPr>
          <a:lstStyle/>
          <a:p>
            <a:pPr indent="-342900" lvl="0" marL="34290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Arial"/>
              <a:buChar char="•"/>
            </a:pPr>
            <a:r>
              <a:rPr b="1" lang="en-US" sz="200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Semi-enclosed environment model</a:t>
            </a:r>
            <a:r>
              <a:rPr b="1" i="0" lang="en-US" sz="200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</a:t>
            </a:r>
            <a:r>
              <a:rPr b="1" lang="en-US" sz="200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was</a:t>
            </a:r>
            <a:r>
              <a:rPr b="1" i="0" lang="en-US" sz="200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examined</a:t>
            </a:r>
            <a:endParaRPr/>
          </a:p>
          <a:p>
            <a:pPr indent="-342900" lvl="0" marL="342900" marR="0" rtl="0" algn="l">
              <a:lnSpc>
                <a:spcPct val="13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Arial"/>
              <a:buChar char="•"/>
            </a:pPr>
            <a:r>
              <a:rPr b="1" i="0" lang="en-US" sz="200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A security approach was selected</a:t>
            </a:r>
            <a:endParaRPr/>
          </a:p>
          <a:p>
            <a:pPr indent="-342900" lvl="0" marL="342900" marR="0" rtl="0" algn="l">
              <a:lnSpc>
                <a:spcPct val="13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Arial"/>
              <a:buChar char="•"/>
            </a:pPr>
            <a:r>
              <a:rPr b="1" i="0" lang="en-US" sz="200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Developed se_vault based on file_vault</a:t>
            </a:r>
            <a:endParaRPr b="1" i="0" sz="2000" u="none" cap="none" strike="noStrike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132" name="Google Shape;132;p14"/>
          <p:cNvSpPr/>
          <p:nvPr/>
        </p:nvSpPr>
        <p:spPr>
          <a:xfrm>
            <a:off x="1095375" y="5541400"/>
            <a:ext cx="8049900" cy="4008600"/>
          </a:xfrm>
          <a:prstGeom prst="roundRect">
            <a:avLst>
              <a:gd fmla="val 6000" name="adj"/>
            </a:avLst>
          </a:prstGeom>
          <a:solidFill>
            <a:srgbClr val="EEF1F4"/>
          </a:solidFill>
          <a:ln>
            <a:noFill/>
          </a:ln>
        </p:spPr>
        <p:txBody>
          <a:bodyPr anchorCtr="0" anchor="ctr" bIns="392000" lIns="560000" spcFirstLastPara="1" rIns="560000" wrap="square" tIns="3920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2E8B16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Improvements</a:t>
            </a:r>
            <a:endParaRPr/>
          </a:p>
          <a:p>
            <a:pPr indent="-279400" lvl="0" marL="28575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Char char="•"/>
            </a:pPr>
            <a:r>
              <a:rPr b="0" i="0" lang="en-US" sz="19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Security gain: snapshot encryption enabled</a:t>
            </a:r>
            <a:endParaRPr sz="1900"/>
          </a:p>
          <a:p>
            <a:pPr indent="-279400" lvl="0" marL="28575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Char char="•"/>
            </a:pPr>
            <a:r>
              <a:rPr b="0" i="0" lang="en-US" sz="19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Integrity gain: SHA-256 at block level (Tresor) and hash at FS level (Snapper)</a:t>
            </a:r>
            <a:endParaRPr sz="1900"/>
          </a:p>
          <a:p>
            <a:pPr indent="0" lvl="0" marL="0" marR="0" rtl="0" algn="l">
              <a:lnSpc>
                <a:spcPct val="120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2E8B16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Future work</a:t>
            </a:r>
            <a:endParaRPr/>
          </a:p>
          <a:p>
            <a:pPr indent="-279400" lvl="0" marL="28575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Char char="•"/>
            </a:pPr>
            <a:r>
              <a:rPr b="0" i="0" lang="en-US" sz="19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Decrease performance overhead (</a:t>
            </a:r>
            <a:r>
              <a:rPr lang="en-US" sz="19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investigate the problem with implementation</a:t>
            </a:r>
            <a:r>
              <a:rPr b="0" i="0" lang="en-US" sz="19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); encrypt the isomem block device</a:t>
            </a:r>
            <a:endParaRPr sz="1900"/>
          </a:p>
          <a:p>
            <a:pPr indent="-279400" lvl="0" marL="28575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Char char="•"/>
            </a:pPr>
            <a:r>
              <a:rPr b="0" i="0" lang="en-US" sz="19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Merge Snapper and Tresor snapshot concepts; bring the PoC to industrial scale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3" name="Google Shape;133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900000" y="780000"/>
            <a:ext cx="2480000" cy="720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14"/>
          <p:cNvSpPr/>
          <p:nvPr/>
        </p:nvSpPr>
        <p:spPr>
          <a:xfrm>
            <a:off x="16400000" y="9550000"/>
            <a:ext cx="15000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A3AB"/>
              </a:buClr>
              <a:buSzPts val="1300"/>
              <a:buFont typeface="IBM Plex Mono"/>
              <a:buNone/>
            </a:pPr>
            <a:r>
              <a:rPr b="0" i="0" lang="en-US" sz="1300" u="none" cap="none" strike="noStrike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1</a:t>
            </a:r>
            <a:r>
              <a:rPr lang="en-US" sz="1300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2</a:t>
            </a:r>
            <a:r>
              <a:rPr b="0" i="0" lang="en-US" sz="1300" u="none" cap="none" strike="noStrike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/</a:t>
            </a:r>
            <a:r>
              <a:rPr lang="en-US" sz="1300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  <a:endParaRPr/>
          </a:p>
        </p:txBody>
      </p:sp>
      <p:sp>
        <p:nvSpPr>
          <p:cNvPr id="135" name="Google Shape;135;p14"/>
          <p:cNvSpPr/>
          <p:nvPr/>
        </p:nvSpPr>
        <p:spPr>
          <a:xfrm>
            <a:off x="1095375" y="2858525"/>
            <a:ext cx="8049900" cy="2404200"/>
          </a:xfrm>
          <a:prstGeom prst="roundRect">
            <a:avLst>
              <a:gd fmla="val 6000" name="adj"/>
            </a:avLst>
          </a:prstGeom>
          <a:solidFill>
            <a:srgbClr val="EEF1F4"/>
          </a:solidFill>
          <a:ln>
            <a:noFill/>
          </a:ln>
        </p:spPr>
        <p:txBody>
          <a:bodyPr anchorCtr="0" anchor="ctr" bIns="406000" lIns="580000" spcFirstLastPara="1" rIns="580000" wrap="square" tIns="406000">
            <a:noAutofit/>
          </a:bodyPr>
          <a:lstStyle/>
          <a:p>
            <a:pPr indent="0" lvl="0" marL="0" marR="0" rtl="0" algn="l">
              <a:lnSpc>
                <a:spcPct val="121428"/>
              </a:lnSpc>
              <a:spcBef>
                <a:spcPts val="0"/>
              </a:spcBef>
              <a:spcAft>
                <a:spcPts val="0"/>
              </a:spcAft>
              <a:buClr>
                <a:srgbClr val="2E8B16"/>
              </a:buClr>
              <a:buSzPts val="2100"/>
              <a:buFont typeface="Montserrat"/>
              <a:buNone/>
            </a:pPr>
            <a:r>
              <a:rPr b="1" i="0" lang="en-US" sz="2100" u="none" cap="none" strike="noStrike">
                <a:solidFill>
                  <a:srgbClr val="2E8B16"/>
                </a:solidFill>
                <a:latin typeface="Montserrat"/>
                <a:ea typeface="Montserrat"/>
                <a:cs typeface="Montserrat"/>
                <a:sym typeface="Montserrat"/>
              </a:rPr>
              <a:t>✓  </a:t>
            </a:r>
            <a:r>
              <a:rPr b="0" i="0" lang="en-US" sz="190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Mandatory authorization (USB key)</a:t>
            </a:r>
            <a:endParaRPr/>
          </a:p>
          <a:p>
            <a:pPr indent="0" lvl="0" marL="0" marR="0" rtl="0" algn="l">
              <a:lnSpc>
                <a:spcPct val="121428"/>
              </a:lnSpc>
              <a:spcBef>
                <a:spcPts val="260"/>
              </a:spcBef>
              <a:spcAft>
                <a:spcPts val="0"/>
              </a:spcAft>
              <a:buClr>
                <a:srgbClr val="2E8B16"/>
              </a:buClr>
              <a:buSzPts val="2100"/>
              <a:buFont typeface="Montserrat"/>
              <a:buNone/>
            </a:pPr>
            <a:r>
              <a:rPr b="1" i="0" lang="en-US" sz="2100" u="none" cap="none" strike="noStrike">
                <a:solidFill>
                  <a:srgbClr val="2E8B16"/>
                </a:solidFill>
                <a:latin typeface="Montserrat"/>
                <a:ea typeface="Montserrat"/>
                <a:cs typeface="Montserrat"/>
                <a:sym typeface="Montserrat"/>
              </a:rPr>
              <a:t>✓  </a:t>
            </a:r>
            <a:r>
              <a:rPr b="0" i="0" lang="en-US" sz="190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Key on external medium</a:t>
            </a:r>
            <a:endParaRPr/>
          </a:p>
          <a:p>
            <a:pPr indent="0" lvl="0" marL="0" marR="0" rtl="0" algn="l">
              <a:lnSpc>
                <a:spcPct val="121428"/>
              </a:lnSpc>
              <a:spcBef>
                <a:spcPts val="260"/>
              </a:spcBef>
              <a:spcAft>
                <a:spcPts val="0"/>
              </a:spcAft>
              <a:buClr>
                <a:srgbClr val="2E8B16"/>
              </a:buClr>
              <a:buSzPts val="2100"/>
              <a:buFont typeface="Montserrat"/>
              <a:buNone/>
            </a:pPr>
            <a:r>
              <a:rPr b="1" i="0" lang="en-US" sz="2100" u="none" cap="none" strike="noStrike">
                <a:solidFill>
                  <a:srgbClr val="2E8B16"/>
                </a:solidFill>
                <a:latin typeface="Montserrat"/>
                <a:ea typeface="Montserrat"/>
                <a:cs typeface="Montserrat"/>
                <a:sym typeface="Montserrat"/>
              </a:rPr>
              <a:t>✓  </a:t>
            </a:r>
            <a:r>
              <a:rPr b="0" i="0" lang="en-US" sz="190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AES block-level encryption</a:t>
            </a:r>
            <a:endParaRPr/>
          </a:p>
          <a:p>
            <a:pPr indent="0" lvl="0" marL="0" marR="0" rtl="0" algn="l">
              <a:lnSpc>
                <a:spcPct val="121428"/>
              </a:lnSpc>
              <a:spcBef>
                <a:spcPts val="260"/>
              </a:spcBef>
              <a:spcAft>
                <a:spcPts val="0"/>
              </a:spcAft>
              <a:buClr>
                <a:srgbClr val="2E8B16"/>
              </a:buClr>
              <a:buSzPts val="2100"/>
              <a:buFont typeface="Montserrat"/>
              <a:buNone/>
            </a:pPr>
            <a:r>
              <a:rPr b="1" i="0" lang="en-US" sz="2100" u="none" cap="none" strike="noStrike">
                <a:solidFill>
                  <a:srgbClr val="2E8B16"/>
                </a:solidFill>
                <a:latin typeface="Montserrat"/>
                <a:ea typeface="Montserrat"/>
                <a:cs typeface="Montserrat"/>
                <a:sym typeface="Montserrat"/>
              </a:rPr>
              <a:t>✓  </a:t>
            </a:r>
            <a:r>
              <a:rPr b="0" i="0" lang="en-US" sz="190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Only encrypted data on disk</a:t>
            </a:r>
            <a:endParaRPr/>
          </a:p>
          <a:p>
            <a:pPr indent="0" lvl="0" marL="0" marR="0" rtl="0" algn="l">
              <a:lnSpc>
                <a:spcPct val="121428"/>
              </a:lnSpc>
              <a:spcBef>
                <a:spcPts val="260"/>
              </a:spcBef>
              <a:spcAft>
                <a:spcPts val="0"/>
              </a:spcAft>
              <a:buClr>
                <a:srgbClr val="E8401C"/>
              </a:buClr>
              <a:buSzPts val="2100"/>
              <a:buFont typeface="Montserrat"/>
              <a:buNone/>
            </a:pPr>
            <a:r>
              <a:rPr b="1" i="0" lang="en-US" sz="2100" u="none" cap="none" strike="noStrike">
                <a:solidFill>
                  <a:srgbClr val="E8401C"/>
                </a:solidFill>
                <a:latin typeface="Montserrat"/>
                <a:ea typeface="Montserrat"/>
                <a:cs typeface="Montserrat"/>
                <a:sym typeface="Montserrat"/>
              </a:rPr>
              <a:t>✗  </a:t>
            </a:r>
            <a:r>
              <a:rPr b="0" i="0" lang="en-US" sz="190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Overhead ≤ 2× (Tresor limitation)</a:t>
            </a:r>
            <a:endParaRPr/>
          </a:p>
        </p:txBody>
      </p:sp>
      <p:sp>
        <p:nvSpPr>
          <p:cNvPr id="136" name="Google Shape;136;p14"/>
          <p:cNvSpPr/>
          <p:nvPr/>
        </p:nvSpPr>
        <p:spPr>
          <a:xfrm>
            <a:off x="9493800" y="2858525"/>
            <a:ext cx="8049900" cy="2404200"/>
          </a:xfrm>
          <a:prstGeom prst="roundRect">
            <a:avLst>
              <a:gd fmla="val 6000" name="adj"/>
            </a:avLst>
          </a:prstGeom>
          <a:solidFill>
            <a:srgbClr val="40BA21"/>
          </a:solidFill>
          <a:ln>
            <a:noFill/>
          </a:ln>
        </p:spPr>
        <p:txBody>
          <a:bodyPr anchorCtr="0" anchor="ctr" bIns="434000" lIns="620000" spcFirstLastPara="1" rIns="620000" wrap="square" tIns="434000">
            <a:noAutofit/>
          </a:bodyPr>
          <a:lstStyle/>
          <a:p>
            <a:pPr indent="0" lvl="0" marL="0" marR="0" rtl="0" algn="l">
              <a:lnSpc>
                <a:spcPct val="131707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50"/>
              <a:buFont typeface="IBM Plex Sans Medium"/>
              <a:buNone/>
            </a:pPr>
            <a:r>
              <a:rPr b="0" i="0" lang="en-US" sz="2000" u="none" cap="none" strike="noStrike">
                <a:solidFill>
                  <a:srgbClr val="FFFFFF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The current overheads may be acceptable in certain scenarios.</a:t>
            </a:r>
            <a:endParaRPr sz="2000"/>
          </a:p>
        </p:txBody>
      </p:sp>
      <p:sp>
        <p:nvSpPr>
          <p:cNvPr id="137" name="Google Shape;137;p14"/>
          <p:cNvSpPr/>
          <p:nvPr/>
        </p:nvSpPr>
        <p:spPr>
          <a:xfrm>
            <a:off x="1095375" y="1855450"/>
            <a:ext cx="16448400" cy="747600"/>
          </a:xfrm>
          <a:prstGeom prst="roundRect">
            <a:avLst>
              <a:gd fmla="val 6000" name="adj"/>
            </a:avLst>
          </a:prstGeom>
          <a:solidFill>
            <a:srgbClr val="40BA21"/>
          </a:solidFill>
          <a:ln>
            <a:noFill/>
          </a:ln>
        </p:spPr>
        <p:txBody>
          <a:bodyPr anchorCtr="0" anchor="ctr" bIns="364000" lIns="520000" spcFirstLastPara="1" rIns="520000" wrap="square" tIns="364000">
            <a:noAutofit/>
          </a:bodyPr>
          <a:lstStyle/>
          <a:p>
            <a:pPr indent="0" lvl="0" marL="0" marR="0" rtl="0" algn="l">
              <a:lnSpc>
                <a:spcPct val="12272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4 of 5 requirements met; Consistent with the considered scenario </a:t>
            </a:r>
            <a:endParaRPr b="1" i="0" sz="2200" u="none" cap="none" strike="noStrike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52A"/>
        </a:solidFill>
      </p:bgPr>
    </p:bg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42" name="Google Shape;142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476750" y="0"/>
            <a:ext cx="1381125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43" name="Google Shape;143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371475"/>
            <a:ext cx="18288000" cy="96488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44" name="Google Shape;144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096625" y="4953000"/>
            <a:ext cx="4695825" cy="46863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45" name="Google Shape;145;p1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4678025" y="962025"/>
            <a:ext cx="3609975" cy="51149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46" name="Google Shape;146;p1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5287625" y="3724275"/>
            <a:ext cx="3000375" cy="637222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15"/>
          <p:cNvSpPr/>
          <p:nvPr/>
        </p:nvSpPr>
        <p:spPr>
          <a:xfrm>
            <a:off x="5896040" y="4403000"/>
            <a:ext cx="6495919" cy="11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4375"/>
              </a:lnSpc>
              <a:spcBef>
                <a:spcPts val="0"/>
              </a:spcBef>
              <a:spcAft>
                <a:spcPts val="0"/>
              </a:spcAft>
              <a:buClr>
                <a:srgbClr val="6FE34B"/>
              </a:buClr>
              <a:buSzPts val="9600"/>
              <a:buFont typeface="Montserrat"/>
              <a:buNone/>
            </a:pPr>
            <a:r>
              <a:rPr b="1" i="0" lang="en-US" sz="9600" u="none" cap="none" strike="noStrike">
                <a:solidFill>
                  <a:srgbClr val="6FE34B"/>
                </a:solidFill>
                <a:latin typeface="Montserrat"/>
                <a:ea typeface="Montserrat"/>
                <a:cs typeface="Montserrat"/>
                <a:sym typeface="Montserrat"/>
              </a:rPr>
              <a:t>Questions</a:t>
            </a:r>
            <a:endParaRPr b="0" i="0" sz="6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15"/>
          <p:cNvSpPr/>
          <p:nvPr/>
        </p:nvSpPr>
        <p:spPr>
          <a:xfrm>
            <a:off x="1123950" y="3450000"/>
            <a:ext cx="13000000" cy="6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29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9" name="Google Shape;149;p15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1137156" y="1137191"/>
            <a:ext cx="3027200" cy="88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