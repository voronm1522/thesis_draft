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B16"/>
    <a:srgbClr val="56A145"/>
    <a:srgbClr val="9AA3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01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267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76750" y="0"/>
            <a:ext cx="1381125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371475"/>
            <a:ext cx="18288000" cy="9648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096625" y="4953000"/>
            <a:ext cx="4695825" cy="4686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8025" y="962025"/>
            <a:ext cx="3609975" cy="51149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5287625" y="3724275"/>
            <a:ext cx="3000375" cy="637222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057275" y="6900000"/>
            <a:ext cx="9000000" cy="2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spcAft>
                <a:spcPts val="750"/>
              </a:spcAft>
              <a:buNone/>
            </a:pPr>
            <a:r>
              <a:rPr lang="en-US" sz="3400" b="1" dirty="0">
                <a:solidFill>
                  <a:srgbClr val="40BA2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Research and Adaptation</a:t>
            </a:r>
            <a:r>
              <a:rPr lang="en-US" sz="3400" b="1" dirty="0"/>
              <a:t/>
            </a:r>
            <a:br>
              <a:rPr lang="en-US" sz="3400" b="1" dirty="0"/>
            </a:br>
            <a:r>
              <a:rPr lang="en-US" sz="3400" b="1" dirty="0">
                <a:solidFill>
                  <a:srgbClr val="40BA2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 Components from the</a:t>
            </a:r>
            <a:r>
              <a:rPr lang="en-US" sz="3400" b="1" dirty="0"/>
              <a:t/>
            </a:r>
            <a:br>
              <a:rPr lang="en-US" sz="3400" b="1" dirty="0"/>
            </a:br>
            <a:r>
              <a:rPr lang="en-US" sz="3400" b="1" dirty="0">
                <a:solidFill>
                  <a:srgbClr val="40BA2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Persistent OS Phantom for Genode</a:t>
            </a:r>
            <a:endParaRPr lang="en-US" sz="3400" b="1" dirty="0"/>
          </a:p>
        </p:txBody>
      </p:sp>
      <p:sp>
        <p:nvSpPr>
          <p:cNvPr id="9" name="Text 1"/>
          <p:cNvSpPr/>
          <p:nvPr/>
        </p:nvSpPr>
        <p:spPr>
          <a:xfrm>
            <a:off x="1123950" y="4650000"/>
            <a:ext cx="9000000" cy="2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IBM Plex Sans Regular"/>
                <a:ea typeface="IBM Plex Sans Regular"/>
                <a:cs typeface="IBM Plex Sans Medium" pitchFamily="34" charset="-120"/>
              </a:rPr>
              <a:t>Student: Mikhail Voronin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Supervisor: Artem Burmyakov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Consultant: Alexander Tormasov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1600" dirty="0">
                <a:solidFill>
                  <a:srgbClr val="6FE3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June 2026</a:t>
            </a:r>
            <a:endParaRPr lang="en-US" sz="16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C4E1B70-CBE0-49FE-829F-49682EFEE7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7156" y="1137191"/>
            <a:ext cx="3027200" cy="8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Relevance</a:t>
            </a:r>
          </a:p>
        </p:txBody>
      </p:sp>
      <p:sp>
        <p:nvSpPr>
          <p:cNvPr id="10" name="panel"/>
          <p:cNvSpPr/>
          <p:nvPr/>
        </p:nvSpPr>
        <p:spPr>
          <a:xfrm>
            <a:off x="1095375" y="2600000"/>
            <a:ext cx="9300000" cy="300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600000" tIns="420000" rIns="600000" bIns="420000" rtlCol="0" anchor="ctr"/>
          <a:lstStyle/>
          <a:p>
            <a:pPr marL="400000" indent="-400000" algn="l">
              <a:lnSpc>
                <a:spcPts val="2600"/>
              </a:lnSpc>
              <a:spcAft>
                <a:spcPts val="5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Orthogonal persistence has been developing since the 1980s</a:t>
            </a:r>
          </a:p>
          <a:p>
            <a:pPr marL="400000" indent="-400000" algn="l">
              <a:lnSpc>
                <a:spcPts val="2600"/>
              </a:lnSpc>
              <a:spcAft>
                <a:spcPts val="5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New equipment spurs new research</a:t>
            </a:r>
          </a:p>
          <a:p>
            <a:pPr marL="400000" indent="-400000" algn="l">
              <a:lnSpc>
                <a:spcPts val="26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The current situation requires research</a:t>
            </a:r>
          </a:p>
        </p:txBody>
      </p:sp>
      <p:sp>
        <p:nvSpPr>
          <p:cNvPr id="11" name="accent"/>
          <p:cNvSpPr/>
          <p:nvPr/>
        </p:nvSpPr>
        <p:spPr>
          <a:xfrm>
            <a:off x="10800000" y="2600000"/>
            <a:ext cx="6350000" cy="300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600000" tIns="420000" rIns="600000" bIns="420000" rtlCol="0" anchor="ctr"/>
          <a:lstStyle/>
          <a:p>
            <a:pPr marL="0" indent="0" algn="l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now?</a:t>
            </a:r>
          </a:p>
          <a:p>
            <a:pPr marL="0" indent="0" algn="l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Persistent memory and new hardware make the problem practical, not just theoretical.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2/20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Objective</a:t>
            </a:r>
          </a:p>
        </p:txBody>
      </p:sp>
      <p:sp>
        <p:nvSpPr>
          <p:cNvPr id="10" name="panel"/>
          <p:cNvSpPr/>
          <p:nvPr/>
        </p:nvSpPr>
        <p:spPr>
          <a:xfrm>
            <a:off x="1095375" y="2600000"/>
            <a:ext cx="8300000" cy="340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600000" tIns="420000" rIns="600000" bIns="420000" rtlCol="0" anchor="ctr"/>
          <a:lstStyle/>
          <a:p>
            <a:pPr marL="0" indent="0" algn="l">
              <a:lnSpc>
                <a:spcPts val="2600"/>
              </a:lnSpc>
              <a:spcAft>
                <a:spcPts val="350"/>
              </a:spcAft>
              <a:buNone/>
            </a:pPr>
            <a:r>
              <a:rPr lang="en-US" sz="200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Current implementation</a:t>
            </a:r>
          </a:p>
          <a:p>
            <a:pPr marL="400000" indent="-400000" algn="l">
              <a:lnSpc>
                <a:spcPts val="2400"/>
              </a:lnSpc>
              <a:spcAft>
                <a:spcPts val="250"/>
              </a:spcAft>
              <a:buFont typeface="Arial" pitchFamily="34" charset="0"/>
              <a:buChar char="•"/>
            </a:pPr>
            <a:r>
              <a:rPr lang="en-US" sz="19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Test systems exist</a:t>
            </a:r>
          </a:p>
          <a:p>
            <a:pPr marL="400000" indent="-400000" algn="l">
              <a:lnSpc>
                <a:spcPts val="2400"/>
              </a:lnSpc>
              <a:spcAft>
                <a:spcPts val="250"/>
              </a:spcAft>
              <a:buFont typeface="Arial" pitchFamily="34" charset="0"/>
              <a:buChar char="•"/>
            </a:pPr>
            <a:r>
              <a:rPr lang="en-US" sz="19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Embedded systems</a:t>
            </a:r>
          </a:p>
          <a:p>
            <a:pPr marL="400000" indent="-400000" algn="l">
              <a:lnSpc>
                <a:spcPts val="24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19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No permanent physical access is required</a:t>
            </a:r>
          </a:p>
        </p:txBody>
      </p:sp>
      <p:sp>
        <p:nvSpPr>
          <p:cNvPr id="11" name="goal"/>
          <p:cNvSpPr/>
          <p:nvPr/>
        </p:nvSpPr>
        <p:spPr>
          <a:xfrm>
            <a:off x="9800000" y="2600000"/>
            <a:ext cx="7350000" cy="340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650000" tIns="455000" rIns="650000" bIns="455000" rtlCol="0" anchor="ctr"/>
          <a:lstStyle/>
          <a:p>
            <a:pPr marL="0" indent="0" algn="l">
              <a:lnSpc>
                <a:spcPts val="30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Goal</a:t>
            </a:r>
          </a:p>
          <a:p>
            <a:pPr marL="0" indent="0" algn="l">
              <a:lnSpc>
                <a:spcPts val="2900"/>
              </a:lnSpc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Explore options for ensuring data security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3/20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Persistence</a:t>
            </a:r>
          </a:p>
        </p:txBody>
      </p:sp>
      <p:sp>
        <p:nvSpPr>
          <p:cNvPr id="10" name="banner"/>
          <p:cNvSpPr/>
          <p:nvPr/>
        </p:nvSpPr>
        <p:spPr>
          <a:xfrm>
            <a:off x="1095375" y="1850000"/>
            <a:ext cx="16050000" cy="115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550000" tIns="385000" rIns="550000" bIns="385000" rtlCol="0" anchor="ctr"/>
          <a:lstStyle/>
          <a:p>
            <a:pPr marL="0" indent="0" algn="l">
              <a:lnSpc>
                <a:spcPts val="2700"/>
              </a:lnSpc>
              <a:spcAft>
                <a:spcPts val="0"/>
              </a:spcAft>
              <a:buNone/>
            </a:pPr>
            <a:r>
              <a:rPr lang="en-US" sz="2100" b="1" dirty="0" smtClean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Persistence</a:t>
            </a:r>
            <a:r>
              <a:rPr lang="en-US" sz="2100" dirty="0" smtClean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 is the </a:t>
            </a:r>
            <a:r>
              <a:rPr lang="en-US" sz="21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period of time during which an object is </a:t>
            </a:r>
            <a:r>
              <a:rPr lang="en-US" sz="2100" dirty="0" smtClean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usable</a:t>
            </a:r>
            <a:r>
              <a:rPr lang="ru-RU" sz="2100" baseline="30000" dirty="0" smtClean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1</a:t>
            </a:r>
            <a:endParaRPr lang="en-US" sz="1100" b="1" baseline="30000" dirty="0">
              <a:solidFill>
                <a:srgbClr val="FFFFFF"/>
              </a:solidFill>
              <a:latin typeface="Montserrat SemiBold" pitchFamily="34" charset="0"/>
              <a:cs typeface="Montserrat SemiBold" pitchFamily="34" charset="0"/>
            </a:endParaRPr>
          </a:p>
        </p:txBody>
      </p:sp>
      <p:sp>
        <p:nvSpPr>
          <p:cNvPr id="11" name="left"/>
          <p:cNvSpPr/>
          <p:nvPr/>
        </p:nvSpPr>
        <p:spPr>
          <a:xfrm>
            <a:off x="1095375" y="3250000"/>
            <a:ext cx="7700000" cy="41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520000" tIns="364000" rIns="520000" bIns="364000" rtlCol="0" anchor="t"/>
          <a:lstStyle/>
          <a:p>
            <a:pPr marL="0" indent="0" algn="l">
              <a:lnSpc>
                <a:spcPts val="2400"/>
              </a:lnSpc>
              <a:spcAft>
                <a:spcPts val="350"/>
              </a:spcAft>
              <a:buNone/>
            </a:pPr>
            <a:r>
              <a:rPr lang="en-US" sz="1900" b="1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Two-level store (today’s dominant model, non-persistent)</a:t>
            </a:r>
          </a:p>
          <a:p>
            <a:pPr marL="380000" indent="-380000" algn="l">
              <a:lnSpc>
                <a:spcPts val="2200"/>
              </a:lnSpc>
              <a:spcAft>
                <a:spcPts val="200"/>
              </a:spcAft>
              <a:buFont typeface="Arial" pitchFamily="34" charset="0"/>
              <a:buChar char="•"/>
            </a:pPr>
            <a:r>
              <a:rPr lang="en-US" sz="17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Data is either active (RAM) or stored (disk)</a:t>
            </a:r>
          </a:p>
          <a:p>
            <a:pPr marL="380000" indent="-380000" algn="l">
              <a:lnSpc>
                <a:spcPts val="22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17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Programmer manually moves data between levels</a:t>
            </a:r>
          </a:p>
        </p:txBody>
      </p:sp>
      <p:sp>
        <p:nvSpPr>
          <p:cNvPr id="12" name="right"/>
          <p:cNvSpPr/>
          <p:nvPr/>
        </p:nvSpPr>
        <p:spPr>
          <a:xfrm>
            <a:off x="9395375" y="3250000"/>
            <a:ext cx="7754625" cy="41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520000" tIns="364000" rIns="520000" bIns="364000" rtlCol="0" anchor="t"/>
          <a:lstStyle/>
          <a:p>
            <a:pPr marL="0" indent="0" algn="l">
              <a:lnSpc>
                <a:spcPts val="2400"/>
              </a:lnSpc>
              <a:spcAft>
                <a:spcPts val="350"/>
              </a:spcAft>
              <a:buNone/>
            </a:pPr>
            <a:r>
              <a:rPr lang="en-US" sz="190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Consequences</a:t>
            </a:r>
          </a:p>
          <a:p>
            <a:pPr marL="380000" indent="-380000" algn="l">
              <a:lnSpc>
                <a:spcPts val="2200"/>
              </a:lnSpc>
              <a:spcAft>
                <a:spcPts val="200"/>
              </a:spcAft>
              <a:buFont typeface="Arial" pitchFamily="34" charset="0"/>
              <a:buChar char="•"/>
            </a:pPr>
            <a:r>
              <a:rPr lang="en-US" sz="17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Data loss</a:t>
            </a:r>
          </a:p>
          <a:p>
            <a:pPr marL="380000" indent="-380000" algn="l">
              <a:lnSpc>
                <a:spcPts val="2200"/>
              </a:lnSpc>
              <a:spcAft>
                <a:spcPts val="200"/>
              </a:spcAft>
              <a:buFont typeface="Arial" pitchFamily="34" charset="0"/>
              <a:buChar char="•"/>
            </a:pPr>
            <a:r>
              <a:rPr lang="en-US" sz="17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I/O boilerplate (≈30% of code)</a:t>
            </a:r>
          </a:p>
          <a:p>
            <a:pPr marL="380000" indent="-380000" algn="l">
              <a:lnSpc>
                <a:spcPts val="22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17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Frequent initialization and configuration</a:t>
            </a:r>
          </a:p>
        </p:txBody>
      </p:sp>
      <p:sp>
        <p:nvSpPr>
          <p:cNvPr id="80" name="footnotes"/>
          <p:cNvSpPr/>
          <p:nvPr/>
        </p:nvSpPr>
        <p:spPr>
          <a:xfrm>
            <a:off x="1095375" y="9470000"/>
            <a:ext cx="13500000" cy="48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indent="0" algn="l">
              <a:lnSpc>
                <a:spcPts val="1500"/>
              </a:lnSpc>
              <a:spcAft>
                <a:spcPts val="0"/>
              </a:spcAft>
              <a:buNone/>
            </a:pPr>
            <a:r>
              <a:rPr lang="en-US" sz="1600" b="1" baseline="30000" dirty="0">
                <a:solidFill>
                  <a:srgbClr val="9AA3AB"/>
                </a:solidFill>
                <a:latin typeface="IBM Plex Sans Medium" pitchFamily="34" charset="0"/>
                <a:cs typeface="IBM Plex Sans Medium" pitchFamily="34" charset="0"/>
              </a:rPr>
              <a:t>1 </a:t>
            </a:r>
            <a:r>
              <a:rPr lang="en-US" sz="1600" dirty="0">
                <a:solidFill>
                  <a:srgbClr val="9AA3AB"/>
                </a:solidFill>
                <a:latin typeface="IBM Plex Sans Regular" pitchFamily="34" charset="0"/>
                <a:cs typeface="IBM Plex Sans Regular" pitchFamily="34" charset="0"/>
              </a:rPr>
              <a:t>M. P. Atkinson, P. J. Bailey, K. J. Chisholm, W. P. Cockshott, R. Morrison. “PS-algol: A language for persistent programming”, 1983</a:t>
            </a:r>
            <a:r>
              <a:rPr lang="en-US" sz="1100" dirty="0">
                <a:solidFill>
                  <a:srgbClr val="9AA3AB"/>
                </a:solidFill>
                <a:latin typeface="IBM Plex Sans Regular" pitchFamily="34" charset="0"/>
                <a:cs typeface="IBM Plex Sans Regular" pitchFamily="34" charset="0"/>
              </a:rPr>
              <a:t>.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4/20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Orthogonal Persistence</a:t>
            </a:r>
          </a:p>
        </p:txBody>
      </p:sp>
      <p:sp>
        <p:nvSpPr>
          <p:cNvPr id="10" name="left"/>
          <p:cNvSpPr/>
          <p:nvPr/>
        </p:nvSpPr>
        <p:spPr>
          <a:xfrm>
            <a:off x="1095375" y="2350000"/>
            <a:ext cx="8300000" cy="500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560000" tIns="392000" rIns="560000" bIns="392000" rtlCol="0" anchor="t"/>
          <a:lstStyle/>
          <a:p>
            <a:pPr marL="0" indent="0" algn="l">
              <a:lnSpc>
                <a:spcPts val="2600"/>
              </a:lnSpc>
              <a:spcAft>
                <a:spcPts val="450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Alternative: the environment manages persistence</a:t>
            </a:r>
          </a:p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1900" b="1" dirty="0" smtClean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</a:t>
            </a:r>
            <a:r>
              <a:rPr lang="en-US" sz="1900" b="1" baseline="30000" dirty="0" smtClean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100" b="1" baseline="30000" dirty="0" smtClean="0">
              <a:solidFill>
                <a:srgbClr val="2E8B16"/>
              </a:solidFill>
              <a:latin typeface="Montserrat SemiBold" pitchFamily="34" charset="0"/>
              <a:cs typeface="Montserrat SemiBold" pitchFamily="34" charset="0"/>
            </a:endParaRPr>
          </a:p>
          <a:p>
            <a:pPr marL="400000" indent="-400000" algn="l">
              <a:lnSpc>
                <a:spcPts val="2300"/>
              </a:lnSpc>
              <a:spcAft>
                <a:spcPts val="180"/>
              </a:spcAft>
              <a:buFont typeface="+mj-lt"/>
              <a:buAutoNum type="arabicPeriod"/>
            </a:pPr>
            <a:r>
              <a:rPr lang="en-US" sz="1850" dirty="0" smtClean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Independence</a:t>
            </a:r>
          </a:p>
          <a:p>
            <a:pPr marL="400000" indent="-400000" algn="l">
              <a:lnSpc>
                <a:spcPts val="2300"/>
              </a:lnSpc>
              <a:spcAft>
                <a:spcPts val="180"/>
              </a:spcAft>
              <a:buFont typeface="+mj-lt"/>
              <a:buAutoNum type="arabicPeriod"/>
            </a:pPr>
            <a:r>
              <a:rPr lang="en-US" sz="1850" dirty="0" smtClean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Data </a:t>
            </a: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type orthogonality</a:t>
            </a:r>
          </a:p>
          <a:p>
            <a:pPr marL="400000" indent="-400000" algn="l">
              <a:lnSpc>
                <a:spcPts val="23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Identification</a:t>
            </a:r>
          </a:p>
        </p:txBody>
      </p:sp>
      <p:sp>
        <p:nvSpPr>
          <p:cNvPr id="11" name="result"/>
          <p:cNvSpPr/>
          <p:nvPr/>
        </p:nvSpPr>
        <p:spPr>
          <a:xfrm>
            <a:off x="9800000" y="2350000"/>
            <a:ext cx="7350000" cy="500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650000" tIns="455000" rIns="650000" bIns="455000" rtlCol="0" anchor="ctr"/>
          <a:lstStyle/>
          <a:p>
            <a:pPr marL="0" indent="0" algn="l">
              <a:lnSpc>
                <a:spcPts val="2900"/>
              </a:lnSpc>
              <a:spcAft>
                <a:spcPts val="45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Result</a:t>
            </a:r>
          </a:p>
          <a:p>
            <a:pPr marL="0" indent="0" algn="l">
              <a:lnSpc>
                <a:spcPts val="2700"/>
              </a:lnSpc>
              <a:spcAft>
                <a:spcPts val="0"/>
              </a:spcAft>
              <a:buNone/>
            </a:pPr>
            <a:r>
              <a:rPr lang="en-US" sz="205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No two-level store drawbacks, and improved disk bandwidth utilization.</a:t>
            </a:r>
          </a:p>
        </p:txBody>
      </p:sp>
      <p:sp>
        <p:nvSpPr>
          <p:cNvPr id="80" name="footnotes"/>
          <p:cNvSpPr/>
          <p:nvPr/>
        </p:nvSpPr>
        <p:spPr>
          <a:xfrm>
            <a:off x="1095375" y="9470000"/>
            <a:ext cx="13500000" cy="48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indent="0" algn="l">
              <a:lnSpc>
                <a:spcPts val="1500"/>
              </a:lnSpc>
              <a:spcAft>
                <a:spcPts val="0"/>
              </a:spcAft>
              <a:buNone/>
            </a:pPr>
            <a:r>
              <a:rPr lang="en-US" sz="1600" b="1" baseline="30000" dirty="0">
                <a:solidFill>
                  <a:srgbClr val="9AA3AB"/>
                </a:solidFill>
                <a:latin typeface="IBM Plex Sans Medium" pitchFamily="34" charset="0"/>
                <a:cs typeface="IBM Plex Sans Medium" pitchFamily="34" charset="0"/>
              </a:rPr>
              <a:t>1 </a:t>
            </a:r>
            <a:r>
              <a:rPr lang="en-US" sz="1600" dirty="0">
                <a:solidFill>
                  <a:srgbClr val="9AA3AB"/>
                </a:solidFill>
                <a:latin typeface="IBM Plex Sans Regular" pitchFamily="34" charset="0"/>
                <a:cs typeface="IBM Plex Sans Regular" pitchFamily="34" charset="0"/>
              </a:rPr>
              <a:t>R. Morrison, M. P. Atkinson. “Persistent Languages and Architectures”, 1990.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5/20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PhantomOS</a:t>
            </a:r>
          </a:p>
        </p:txBody>
      </p:sp>
      <p:sp>
        <p:nvSpPr>
          <p:cNvPr id="10" name="banner"/>
          <p:cNvSpPr/>
          <p:nvPr/>
        </p:nvSpPr>
        <p:spPr>
          <a:xfrm>
            <a:off x="1095375" y="1850000"/>
            <a:ext cx="16050000" cy="130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550000" tIns="385000" rIns="550000" bIns="385000" rtlCol="0" anchor="ctr"/>
          <a:lstStyle/>
          <a:p>
            <a:pPr marL="0" indent="0" algn="l">
              <a:lnSpc>
                <a:spcPts val="2600"/>
              </a:lnSpc>
              <a:spcAft>
                <a:spcPts val="0"/>
              </a:spcAft>
              <a:buNone/>
            </a:pPr>
            <a:r>
              <a:rPr lang="en-US" sz="2100" b="1" dirty="0" smtClean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PhantomOS</a:t>
            </a:r>
            <a:r>
              <a:rPr lang="en-US" sz="2100" b="1" baseline="30000" dirty="0" smtClean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r>
              <a:rPr lang="en-US" sz="2000" dirty="0" smtClean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 is a </a:t>
            </a:r>
            <a:r>
              <a:rPr lang="en-US" sz="20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non-Unix-like OS implementing orthogonal </a:t>
            </a:r>
            <a:r>
              <a:rPr lang="en-US" sz="2000" dirty="0" smtClean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persistence</a:t>
            </a:r>
            <a:r>
              <a:rPr lang="en-US" sz="2000" baseline="30000" dirty="0" smtClean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2</a:t>
            </a:r>
            <a:endParaRPr lang="en-US" sz="1100" b="1" baseline="30000" dirty="0">
              <a:solidFill>
                <a:srgbClr val="FFFFFF"/>
              </a:solidFill>
              <a:latin typeface="Montserrat SemiBold" pitchFamily="34" charset="0"/>
              <a:cs typeface="Montserrat SemiBold" pitchFamily="34" charset="0"/>
            </a:endParaRPr>
          </a:p>
        </p:txBody>
      </p:sp>
      <p:sp>
        <p:nvSpPr>
          <p:cNvPr id="11" name="body"/>
          <p:cNvSpPr/>
          <p:nvPr/>
        </p:nvSpPr>
        <p:spPr>
          <a:xfrm>
            <a:off x="1095375" y="3400000"/>
            <a:ext cx="16050000" cy="400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620000" tIns="434000" rIns="620000" bIns="434000" rtlCol="0" anchor="ctr"/>
          <a:lstStyle/>
          <a:p>
            <a:pPr marL="400000" indent="-400000" algn="l">
              <a:lnSpc>
                <a:spcPts val="2350"/>
              </a:lnSpc>
              <a:spcAft>
                <a:spcPts val="240"/>
              </a:spcAft>
              <a:buFont typeface="Arial" pitchFamily="34" charset="0"/>
              <a:buChar char="•"/>
            </a:pP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Phantom Virtual Machine (PVM): bytecode VM of a persistent language</a:t>
            </a:r>
          </a:p>
          <a:p>
            <a:pPr marL="400000" indent="-400000" algn="l">
              <a:lnSpc>
                <a:spcPts val="2350"/>
              </a:lnSpc>
              <a:spcAft>
                <a:spcPts val="240"/>
              </a:spcAft>
              <a:buFont typeface="Arial" pitchFamily="34" charset="0"/>
              <a:buChar char="•"/>
            </a:pP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Simplified POSIX layer (non-persistent)</a:t>
            </a:r>
          </a:p>
          <a:p>
            <a:pPr marL="400000" indent="-400000" algn="l">
              <a:lnSpc>
                <a:spcPts val="2350"/>
              </a:lnSpc>
              <a:spcAft>
                <a:spcPts val="240"/>
              </a:spcAft>
              <a:buFont typeface="Arial" pitchFamily="34" charset="0"/>
              <a:buChar char="•"/>
            </a:pP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Periodical snapshots </a:t>
            </a:r>
            <a:r>
              <a:rPr lang="en-US" sz="1850" dirty="0" smtClean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(via </a:t>
            </a:r>
            <a:r>
              <a:rPr lang="en-US" sz="1850" b="1" dirty="0" smtClean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Copy-on-Write</a:t>
            </a:r>
            <a:r>
              <a:rPr lang="en-US" sz="1850" dirty="0" smtClean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)</a:t>
            </a:r>
            <a:endParaRPr lang="en-US" sz="1850" dirty="0">
              <a:solidFill>
                <a:srgbClr val="1A1A1A"/>
              </a:solidFill>
              <a:latin typeface="IBM Plex Sans Regular" pitchFamily="34" charset="0"/>
              <a:ea typeface="IBM Plex Sans Regular" pitchFamily="34" charset="-122"/>
              <a:cs typeface="IBM Plex Sans Regular" pitchFamily="34" charset="-120"/>
            </a:endParaRPr>
          </a:p>
          <a:p>
            <a:pPr marL="400000" indent="-400000" algn="l">
              <a:lnSpc>
                <a:spcPts val="2350"/>
              </a:lnSpc>
              <a:spcAft>
                <a:spcPts val="240"/>
              </a:spcAft>
              <a:buFont typeface="Arial" pitchFamily="34" charset="0"/>
              <a:buChar char="•"/>
            </a:pP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Changed pages written to disk (incremental)</a:t>
            </a:r>
          </a:p>
          <a:p>
            <a:pPr marL="400000" indent="-400000" algn="l">
              <a:lnSpc>
                <a:spcPts val="235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Programs temporarily suspended during snapshot preparation</a:t>
            </a:r>
          </a:p>
        </p:txBody>
      </p:sp>
      <p:sp>
        <p:nvSpPr>
          <p:cNvPr id="80" name="footnotes"/>
          <p:cNvSpPr/>
          <p:nvPr/>
        </p:nvSpPr>
        <p:spPr>
          <a:xfrm>
            <a:off x="1095375" y="9110000"/>
            <a:ext cx="13500000" cy="84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indent="0" algn="l">
              <a:lnSpc>
                <a:spcPts val="1500"/>
              </a:lnSpc>
              <a:spcAft>
                <a:spcPts val="60"/>
              </a:spcAft>
              <a:buNone/>
            </a:pPr>
            <a:r>
              <a:rPr lang="en-US" sz="1600" b="1" baseline="30000" dirty="0">
                <a:solidFill>
                  <a:srgbClr val="9AA3AB"/>
                </a:solidFill>
                <a:latin typeface="IBM Plex Sans Medium" pitchFamily="34" charset="0"/>
                <a:cs typeface="IBM Plex Sans Medium" pitchFamily="34" charset="0"/>
              </a:rPr>
              <a:t>1 </a:t>
            </a:r>
            <a:r>
              <a:rPr lang="en-US" sz="1600" dirty="0">
                <a:solidFill>
                  <a:srgbClr val="9AA3AB"/>
                </a:solidFill>
                <a:latin typeface="IBM Plex Sans Regular" pitchFamily="34" charset="0"/>
                <a:cs typeface="IBM Plex Sans Regular" pitchFamily="34" charset="0"/>
              </a:rPr>
              <a:t>http://phantomos.org/</a:t>
            </a:r>
          </a:p>
          <a:p>
            <a:pPr marL="0" indent="0" algn="l">
              <a:lnSpc>
                <a:spcPts val="1500"/>
              </a:lnSpc>
              <a:spcAft>
                <a:spcPts val="0"/>
              </a:spcAft>
              <a:buNone/>
            </a:pPr>
            <a:r>
              <a:rPr lang="en-US" sz="1600" b="1" baseline="30000" dirty="0">
                <a:solidFill>
                  <a:srgbClr val="9AA3AB"/>
                </a:solidFill>
                <a:latin typeface="IBM Plex Sans Medium" pitchFamily="34" charset="0"/>
                <a:cs typeface="IBM Plex Sans Medium" pitchFamily="34" charset="0"/>
              </a:rPr>
              <a:t>2 </a:t>
            </a:r>
            <a:r>
              <a:rPr lang="en-US" sz="1600" dirty="0">
                <a:solidFill>
                  <a:srgbClr val="9AA3AB"/>
                </a:solidFill>
                <a:latin typeface="IBM Plex Sans Regular" pitchFamily="34" charset="0"/>
                <a:cs typeface="IBM Plex Sans Regular" pitchFamily="34" charset="0"/>
              </a:rPr>
              <a:t>D. Zavalishin. PhantomOS, 2010.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6/20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Genode</a:t>
            </a:r>
          </a:p>
        </p:txBody>
      </p:sp>
      <p:sp>
        <p:nvSpPr>
          <p:cNvPr id="10" name="lead"/>
          <p:cNvSpPr/>
          <p:nvPr/>
        </p:nvSpPr>
        <p:spPr>
          <a:xfrm>
            <a:off x="1095375" y="2350000"/>
            <a:ext cx="8300000" cy="500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650000" tIns="455000" rIns="650000" bIns="455000" rtlCol="0" anchor="ctr"/>
          <a:lstStyle/>
          <a:p>
            <a:pPr marL="0" indent="0" algn="l">
              <a:lnSpc>
                <a:spcPts val="2900"/>
              </a:lnSpc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PhantomOS ported to the Genode OS C++ </a:t>
            </a:r>
            <a:r>
              <a:rPr lang="en-US" sz="2200" dirty="0" smtClean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framework</a:t>
            </a:r>
            <a:r>
              <a:rPr lang="en-US" sz="2200" baseline="30000" dirty="0" smtClean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1100" b="1" baseline="30000" dirty="0">
              <a:solidFill>
                <a:srgbClr val="FFFFFF"/>
              </a:solidFill>
              <a:latin typeface="Montserrat SemiBold" pitchFamily="34" charset="0"/>
              <a:cs typeface="Montserrat SemiBold" pitchFamily="34" charset="0"/>
            </a:endParaRPr>
          </a:p>
        </p:txBody>
      </p:sp>
      <p:sp>
        <p:nvSpPr>
          <p:cNvPr id="11" name="body"/>
          <p:cNvSpPr/>
          <p:nvPr/>
        </p:nvSpPr>
        <p:spPr>
          <a:xfrm>
            <a:off x="9800000" y="2350000"/>
            <a:ext cx="7350000" cy="500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580000" tIns="406000" rIns="580000" bIns="406000" rtlCol="0" anchor="ctr"/>
          <a:lstStyle/>
          <a:p>
            <a:pPr marL="0" indent="0" algn="l">
              <a:lnSpc>
                <a:spcPts val="2500"/>
              </a:lnSpc>
              <a:spcAft>
                <a:spcPts val="350"/>
              </a:spcAft>
              <a:buNone/>
            </a:pPr>
            <a:r>
              <a:rPr lang="en-US" sz="195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Genode</a:t>
            </a:r>
          </a:p>
          <a:p>
            <a:pPr marL="400000" indent="-400000" algn="l">
              <a:lnSpc>
                <a:spcPts val="2350"/>
              </a:lnSpc>
              <a:spcAft>
                <a:spcPts val="260"/>
              </a:spcAft>
              <a:buFont typeface="Arial" pitchFamily="34" charset="0"/>
              <a:buChar char="•"/>
            </a:pP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Proven microkernels: NOVA, seL4, Fiasco.OC</a:t>
            </a:r>
          </a:p>
          <a:p>
            <a:pPr marL="400000" indent="-400000" algn="l">
              <a:lnSpc>
                <a:spcPts val="2350"/>
              </a:lnSpc>
              <a:spcAft>
                <a:spcPts val="260"/>
              </a:spcAft>
              <a:buFont typeface="Arial" pitchFamily="34" charset="0"/>
              <a:buChar char="•"/>
            </a:pP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Capability-based security</a:t>
            </a:r>
          </a:p>
          <a:p>
            <a:pPr marL="400000" indent="-400000" algn="l">
              <a:lnSpc>
                <a:spcPts val="235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Minimal trusted computing base (TCB)</a:t>
            </a:r>
          </a:p>
        </p:txBody>
      </p:sp>
      <p:sp>
        <p:nvSpPr>
          <p:cNvPr id="80" name="footnotes"/>
          <p:cNvSpPr/>
          <p:nvPr/>
        </p:nvSpPr>
        <p:spPr>
          <a:xfrm>
            <a:off x="1095375" y="9470000"/>
            <a:ext cx="13500000" cy="48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indent="0" algn="l">
              <a:lnSpc>
                <a:spcPts val="1500"/>
              </a:lnSpc>
              <a:spcAft>
                <a:spcPts val="0"/>
              </a:spcAft>
              <a:buNone/>
            </a:pPr>
            <a:r>
              <a:rPr lang="en-US" sz="1600" b="1" baseline="30000" dirty="0">
                <a:solidFill>
                  <a:srgbClr val="9AA3AB"/>
                </a:solidFill>
                <a:latin typeface="IBM Plex Sans Medium" pitchFamily="34" charset="0"/>
                <a:cs typeface="IBM Plex Sans Medium" pitchFamily="34" charset="0"/>
              </a:rPr>
              <a:t>1 </a:t>
            </a:r>
            <a:r>
              <a:rPr lang="en-US" sz="1600" dirty="0">
                <a:solidFill>
                  <a:srgbClr val="9AA3AB"/>
                </a:solidFill>
                <a:latin typeface="IBM Plex Sans Regular" pitchFamily="34" charset="0"/>
                <a:cs typeface="IBM Plex Sans Regular" pitchFamily="34" charset="0"/>
              </a:rPr>
              <a:t>https://genode.org/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7/20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Snapper</a:t>
            </a:r>
          </a:p>
        </p:txBody>
      </p:sp>
      <p:sp>
        <p:nvSpPr>
          <p:cNvPr id="10" name="banner"/>
          <p:cNvSpPr/>
          <p:nvPr/>
        </p:nvSpPr>
        <p:spPr>
          <a:xfrm>
            <a:off x="1095375" y="1850000"/>
            <a:ext cx="16050000" cy="115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550000" tIns="385000" rIns="550000" bIns="385000" rtlCol="0" anchor="ctr"/>
          <a:lstStyle/>
          <a:p>
            <a:pPr marL="0" indent="0" algn="l">
              <a:lnSpc>
                <a:spcPts val="2600"/>
              </a:lnSpc>
              <a:spcAft>
                <a:spcPts val="0"/>
              </a:spcAft>
              <a:buNone/>
            </a:pPr>
            <a:r>
              <a:rPr lang="en-US" sz="2100" b="1" dirty="0" smtClean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Snapper</a:t>
            </a:r>
            <a:r>
              <a:rPr lang="en-US" sz="2100" b="1" baseline="30000" dirty="0" smtClean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r>
              <a:rPr lang="en-US" sz="2000" dirty="0" smtClean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 is </a:t>
            </a:r>
            <a:r>
              <a:rPr lang="en-US" sz="20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a file-system-based transactional snapshot </a:t>
            </a:r>
            <a:r>
              <a:rPr lang="en-US" sz="2000" dirty="0" smtClean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mechanism</a:t>
            </a:r>
            <a:r>
              <a:rPr lang="en-US" sz="2000" baseline="30000" dirty="0" smtClean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2</a:t>
            </a:r>
            <a:endParaRPr lang="en-US" sz="1100" b="1" baseline="30000" dirty="0">
              <a:solidFill>
                <a:srgbClr val="FFFFFF"/>
              </a:solidFill>
              <a:latin typeface="Montserrat SemiBold" pitchFamily="34" charset="0"/>
              <a:cs typeface="Montserrat SemiBold" pitchFamily="34" charset="0"/>
            </a:endParaRPr>
          </a:p>
        </p:txBody>
      </p:sp>
      <p:sp>
        <p:nvSpPr>
          <p:cNvPr id="11" name="left"/>
          <p:cNvSpPr/>
          <p:nvPr/>
        </p:nvSpPr>
        <p:spPr>
          <a:xfrm>
            <a:off x="1095375" y="3250000"/>
            <a:ext cx="7700000" cy="41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520000" tIns="364000" rIns="520000" bIns="364000" rtlCol="0" anchor="t"/>
          <a:lstStyle/>
          <a:p>
            <a:pPr marL="0" indent="0" algn="l">
              <a:lnSpc>
                <a:spcPts val="2350"/>
              </a:lnSpc>
              <a:spcAft>
                <a:spcPts val="300"/>
              </a:spcAft>
              <a:buNone/>
            </a:pPr>
            <a:r>
              <a:rPr lang="en-US" sz="1850" b="1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Previous approach: “superblock”</a:t>
            </a:r>
          </a:p>
          <a:p>
            <a:pPr marL="380000" indent="-380000" algn="l">
              <a:lnSpc>
                <a:spcPts val="2200"/>
              </a:lnSpc>
              <a:spcAft>
                <a:spcPts val="220"/>
              </a:spcAft>
              <a:buFont typeface="Arial" pitchFamily="34" charset="0"/>
              <a:buChar char="•"/>
            </a:pPr>
            <a:r>
              <a:rPr lang="en-US" sz="17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Snapshots stored as monolithic objects</a:t>
            </a:r>
          </a:p>
          <a:p>
            <a:pPr marL="380000" indent="-380000" algn="l">
              <a:lnSpc>
                <a:spcPts val="22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17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Fast, but no fault tolerance and no storage recovery</a:t>
            </a:r>
          </a:p>
        </p:txBody>
      </p:sp>
      <p:sp>
        <p:nvSpPr>
          <p:cNvPr id="12" name="right"/>
          <p:cNvSpPr/>
          <p:nvPr/>
        </p:nvSpPr>
        <p:spPr>
          <a:xfrm>
            <a:off x="9395375" y="3250000"/>
            <a:ext cx="7754625" cy="415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520000" tIns="364000" rIns="520000" bIns="364000" rtlCol="0" anchor="t"/>
          <a:lstStyle/>
          <a:p>
            <a:pPr marL="0" indent="0" algn="l">
              <a:lnSpc>
                <a:spcPts val="2350"/>
              </a:lnSpc>
              <a:spcAft>
                <a:spcPts val="300"/>
              </a:spcAft>
              <a:buNone/>
            </a:pPr>
            <a:r>
              <a:rPr lang="en-US" sz="18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Snapper 2.0</a:t>
            </a:r>
          </a:p>
          <a:p>
            <a:pPr marL="380000" indent="-380000" algn="l">
              <a:lnSpc>
                <a:spcPts val="2150"/>
              </a:lnSpc>
              <a:spcAft>
                <a:spcPts val="18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Configurable number of generations</a:t>
            </a:r>
          </a:p>
          <a:p>
            <a:pPr marL="380000" indent="-380000" algn="l">
              <a:lnSpc>
                <a:spcPts val="2150"/>
              </a:lnSpc>
              <a:spcAft>
                <a:spcPts val="18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Unchanged pages linked, not copied</a:t>
            </a:r>
          </a:p>
          <a:p>
            <a:pPr marL="380000" indent="-380000" algn="l">
              <a:lnSpc>
                <a:spcPts val="2150"/>
              </a:lnSpc>
              <a:spcAft>
                <a:spcPts val="18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ext4 + fsck for crash recovery</a:t>
            </a:r>
          </a:p>
          <a:p>
            <a:pPr marL="380000" indent="-380000" algn="l">
              <a:lnSpc>
                <a:spcPts val="2150"/>
              </a:lnSpc>
              <a:spcAft>
                <a:spcPts val="18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Integrity checks (per-file hashes)</a:t>
            </a:r>
          </a:p>
          <a:p>
            <a:pPr marL="380000" indent="-380000" algn="l">
              <a:lnSpc>
                <a:spcPts val="215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Configurable redundancy policy</a:t>
            </a:r>
          </a:p>
        </p:txBody>
      </p:sp>
      <p:sp>
        <p:nvSpPr>
          <p:cNvPr id="80" name="footnotes"/>
          <p:cNvSpPr/>
          <p:nvPr/>
        </p:nvSpPr>
        <p:spPr>
          <a:xfrm>
            <a:off x="1095375" y="9110000"/>
            <a:ext cx="13500000" cy="84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indent="0" algn="l">
              <a:lnSpc>
                <a:spcPts val="1500"/>
              </a:lnSpc>
              <a:spcAft>
                <a:spcPts val="60"/>
              </a:spcAft>
              <a:buNone/>
            </a:pPr>
            <a:r>
              <a:rPr lang="en-US" sz="1600" b="1" baseline="30000" dirty="0">
                <a:solidFill>
                  <a:srgbClr val="9AA3AB"/>
                </a:solidFill>
                <a:latin typeface="IBM Plex Sans Medium" pitchFamily="34" charset="0"/>
                <a:cs typeface="IBM Plex Sans Medium" pitchFamily="34" charset="0"/>
              </a:rPr>
              <a:t>1 </a:t>
            </a:r>
            <a:r>
              <a:rPr lang="en-US" sz="1600" dirty="0">
                <a:solidFill>
                  <a:srgbClr val="9AA3AB"/>
                </a:solidFill>
                <a:latin typeface="IBM Plex Sans Regular" pitchFamily="34" charset="0"/>
                <a:cs typeface="IBM Plex Sans Regular" pitchFamily="34" charset="0"/>
              </a:rPr>
              <a:t>https://github.com/rumenmitov/snapper</a:t>
            </a:r>
          </a:p>
          <a:p>
            <a:pPr marL="0" indent="0" algn="l">
              <a:lnSpc>
                <a:spcPts val="1500"/>
              </a:lnSpc>
              <a:spcAft>
                <a:spcPts val="0"/>
              </a:spcAft>
              <a:buNone/>
            </a:pPr>
            <a:r>
              <a:rPr lang="en-US" sz="1600" b="1" baseline="30000" dirty="0">
                <a:solidFill>
                  <a:srgbClr val="9AA3AB"/>
                </a:solidFill>
                <a:latin typeface="IBM Plex Sans Medium" pitchFamily="34" charset="0"/>
                <a:cs typeface="IBM Plex Sans Medium" pitchFamily="34" charset="0"/>
              </a:rPr>
              <a:t>2 </a:t>
            </a:r>
            <a:r>
              <a:rPr lang="en-US" sz="1600" dirty="0">
                <a:solidFill>
                  <a:srgbClr val="9AA3AB"/>
                </a:solidFill>
                <a:latin typeface="IBM Plex Sans Regular" pitchFamily="34" charset="0"/>
                <a:cs typeface="IBM Plex Sans Regular" pitchFamily="34" charset="0"/>
              </a:rPr>
              <a:t>R. Mitov. “Snapper (v2): A PhantomOS snapshot mechanism”, FOSDEM 2026.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8/20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</a:p>
        </p:txBody>
      </p:sp>
      <p:sp>
        <p:nvSpPr>
          <p:cNvPr id="11" name="left"/>
          <p:cNvSpPr/>
          <p:nvPr/>
        </p:nvSpPr>
        <p:spPr>
          <a:xfrm>
            <a:off x="1095375" y="1900000"/>
            <a:ext cx="8300000" cy="61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560000" tIns="392000" rIns="560000" bIns="392000" rtlCol="0" anchor="t"/>
          <a:lstStyle/>
          <a:p>
            <a:pPr marL="0" indent="0" algn="l">
              <a:lnSpc>
                <a:spcPts val="2400"/>
              </a:lnSpc>
              <a:spcAft>
                <a:spcPts val="280"/>
              </a:spcAft>
              <a:buNone/>
            </a:pPr>
            <a:r>
              <a:rPr lang="en-US" sz="1900" b="1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Problem</a:t>
            </a:r>
          </a:p>
          <a:p>
            <a:pPr marL="380000" indent="-380000" algn="l">
              <a:lnSpc>
                <a:spcPts val="2200"/>
              </a:lnSpc>
              <a:spcAft>
                <a:spcPts val="200"/>
              </a:spcAft>
              <a:buFont typeface="Arial" pitchFamily="34" charset="0"/>
              <a:buChar char="•"/>
            </a:pPr>
            <a:r>
              <a:rPr lang="en-US" sz="17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Snapshots contain </a:t>
            </a:r>
            <a:r>
              <a:rPr lang="en-US" sz="1750" b="1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sensitive data</a:t>
            </a:r>
          </a:p>
          <a:p>
            <a:pPr marL="380000" indent="-380000" algn="l">
              <a:lnSpc>
                <a:spcPts val="2200"/>
              </a:lnSpc>
              <a:spcAft>
                <a:spcPts val="420"/>
              </a:spcAft>
              <a:buFont typeface="Arial" pitchFamily="34" charset="0"/>
              <a:buChar char="•"/>
            </a:pPr>
            <a:r>
              <a:rPr lang="en-US" sz="1750" b="1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Plaintext</a:t>
            </a:r>
            <a:r>
              <a:rPr lang="en-US" sz="17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 snapshots are stored on the drive</a:t>
            </a:r>
          </a:p>
          <a:p>
            <a:pPr marL="0" indent="0" algn="l">
              <a:lnSpc>
                <a:spcPts val="2400"/>
              </a:lnSpc>
              <a:spcAft>
                <a:spcPts val="280"/>
              </a:spcAft>
              <a:buNone/>
            </a:pPr>
            <a:r>
              <a:rPr lang="en-US" sz="1900" b="1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Consequences</a:t>
            </a:r>
          </a:p>
          <a:p>
            <a:pPr marL="380000" indent="-380000" algn="l">
              <a:lnSpc>
                <a:spcPts val="2200"/>
              </a:lnSpc>
              <a:spcAft>
                <a:spcPts val="200"/>
              </a:spcAft>
              <a:buFont typeface="Arial" pitchFamily="34" charset="0"/>
              <a:buChar char="•"/>
            </a:pPr>
            <a:r>
              <a:rPr lang="en-US" sz="17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Data can be </a:t>
            </a:r>
            <a:r>
              <a:rPr lang="en-US" sz="1750" b="1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read directly</a:t>
            </a:r>
          </a:p>
          <a:p>
            <a:pPr marL="380000" indent="-380000" algn="l">
              <a:lnSpc>
                <a:spcPts val="22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17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Ability to </a:t>
            </a:r>
            <a:r>
              <a:rPr lang="en-US" sz="1750" b="1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restore the complete state</a:t>
            </a:r>
          </a:p>
        </p:txBody>
      </p:sp>
      <p:sp>
        <p:nvSpPr>
          <p:cNvPr id="12" name="right"/>
          <p:cNvSpPr/>
          <p:nvPr/>
        </p:nvSpPr>
        <p:spPr>
          <a:xfrm>
            <a:off x="9800000" y="1900000"/>
            <a:ext cx="7350000" cy="615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560000" tIns="392000" rIns="560000" bIns="392000" rtlCol="0" anchor="t"/>
          <a:lstStyle/>
          <a:p>
            <a:pPr marL="0" indent="0" algn="l">
              <a:lnSpc>
                <a:spcPts val="2400"/>
              </a:lnSpc>
              <a:spcAft>
                <a:spcPts val="28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Challenges</a:t>
            </a:r>
          </a:p>
          <a:p>
            <a:pPr marL="380000" indent="-380000" algn="l">
              <a:lnSpc>
                <a:spcPts val="2200"/>
              </a:lnSpc>
              <a:spcAft>
                <a:spcPts val="200"/>
              </a:spcAft>
              <a:buFont typeface="Arial" pitchFamily="34" charset="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No prior research </a:t>
            </a:r>
            <a:r>
              <a:rPr lang="en-US" sz="175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on this for PhantomOS</a:t>
            </a:r>
          </a:p>
          <a:p>
            <a:pPr marL="380000" indent="-380000" algn="l">
              <a:lnSpc>
                <a:spcPts val="2200"/>
              </a:lnSpc>
              <a:spcAft>
                <a:spcPts val="520"/>
              </a:spcAft>
              <a:buFont typeface="Arial" pitchFamily="34" charset="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No ready-made solution </a:t>
            </a:r>
            <a:r>
              <a:rPr lang="en-US" sz="175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exists in Genode</a:t>
            </a:r>
          </a:p>
          <a:p>
            <a:pPr marL="0" indent="0" algn="l">
              <a:lnSpc>
                <a:spcPts val="2400"/>
              </a:lnSpc>
              <a:spcAft>
                <a:spcPts val="28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Solution</a:t>
            </a:r>
          </a:p>
          <a:p>
            <a:pPr marL="0" indent="0" algn="l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85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Implement a mechanism for the secure storage of snapshots.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9/20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Environment &amp; Requirements</a:t>
            </a:r>
          </a:p>
        </p:txBody>
      </p:sp>
      <p:sp>
        <p:nvSpPr>
          <p:cNvPr id="10" name="goalbar"/>
          <p:cNvSpPr/>
          <p:nvPr/>
        </p:nvSpPr>
        <p:spPr>
          <a:xfrm>
            <a:off x="1095375" y="1850000"/>
            <a:ext cx="16050000" cy="95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520000" tIns="364000" rIns="520000" bIns="364000" rtlCol="0" anchor="ctr"/>
          <a:lstStyle/>
          <a:p>
            <a:pPr marL="0" indent="0" algn="l">
              <a:lnSpc>
                <a:spcPts val="2600"/>
              </a:lnSpc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 unauthorized access to data</a:t>
            </a:r>
          </a:p>
        </p:txBody>
      </p:sp>
      <p:sp>
        <p:nvSpPr>
          <p:cNvPr id="11" name="reqs"/>
          <p:cNvSpPr/>
          <p:nvPr/>
        </p:nvSpPr>
        <p:spPr>
          <a:xfrm>
            <a:off x="1095375" y="3050000"/>
            <a:ext cx="9300000" cy="49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560000" tIns="392000" rIns="560000" bIns="392000" rtlCol="0" anchor="ctr"/>
          <a:lstStyle/>
          <a:p>
            <a:pPr marL="0" indent="0" algn="l">
              <a:lnSpc>
                <a:spcPts val="2500"/>
              </a:lnSpc>
              <a:spcAft>
                <a:spcPts val="320"/>
              </a:spcAft>
              <a:buNone/>
            </a:pPr>
            <a:r>
              <a:rPr lang="en-US" sz="195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Requirements</a:t>
            </a:r>
          </a:p>
          <a:p>
            <a:pPr marL="0" indent="0" algn="l">
              <a:lnSpc>
                <a:spcPts val="2350"/>
              </a:lnSpc>
              <a:spcAft>
                <a:spcPts val="230"/>
              </a:spcAft>
              <a:buNone/>
            </a:pPr>
            <a:r>
              <a:rPr lang="en-US" sz="185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1.  </a:t>
            </a: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Mandatory authorization</a:t>
            </a:r>
          </a:p>
          <a:p>
            <a:pPr marL="0" indent="0" algn="l">
              <a:lnSpc>
                <a:spcPts val="2350"/>
              </a:lnSpc>
              <a:spcAft>
                <a:spcPts val="230"/>
              </a:spcAft>
              <a:buNone/>
            </a:pPr>
            <a:r>
              <a:rPr lang="en-US" sz="185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2.  </a:t>
            </a: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Key stored on an external USB drive</a:t>
            </a:r>
          </a:p>
          <a:p>
            <a:pPr marL="0" indent="0" algn="l">
              <a:lnSpc>
                <a:spcPts val="2350"/>
              </a:lnSpc>
              <a:spcAft>
                <a:spcPts val="230"/>
              </a:spcAft>
              <a:buNone/>
            </a:pPr>
            <a:r>
              <a:rPr lang="en-US" sz="185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3.  </a:t>
            </a: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Encryption of snapshots (AES, block-level)</a:t>
            </a:r>
          </a:p>
          <a:p>
            <a:pPr marL="0" indent="0" algn="l">
              <a:lnSpc>
                <a:spcPts val="2350"/>
              </a:lnSpc>
              <a:spcAft>
                <a:spcPts val="230"/>
              </a:spcAft>
              <a:buNone/>
            </a:pPr>
            <a:r>
              <a:rPr lang="en-US" sz="185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4.  </a:t>
            </a: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Only encrypted data written to disk</a:t>
            </a:r>
          </a:p>
          <a:p>
            <a:pPr marL="0" indent="0" algn="l">
              <a:lnSpc>
                <a:spcPts val="2350"/>
              </a:lnSpc>
              <a:spcAft>
                <a:spcPts val="230"/>
              </a:spcAft>
              <a:buNone/>
            </a:pPr>
            <a:r>
              <a:rPr lang="en-US" sz="185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5.  </a:t>
            </a:r>
            <a:r>
              <a:rPr lang="en-US" sz="18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Acceptable performance overhead (≤ 2×)</a:t>
            </a:r>
          </a:p>
        </p:txBody>
      </p:sp>
      <p:sp>
        <p:nvSpPr>
          <p:cNvPr id="12" name="note"/>
          <p:cNvSpPr/>
          <p:nvPr/>
        </p:nvSpPr>
        <p:spPr>
          <a:xfrm>
            <a:off x="10800000" y="3050000"/>
            <a:ext cx="6350000" cy="495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620000" tIns="434000" rIns="620000" bIns="434000" rtlCol="0" anchor="ctr"/>
          <a:lstStyle/>
          <a:p>
            <a:pPr marL="0" indent="0" algn="l">
              <a:lnSpc>
                <a:spcPts val="2600"/>
              </a:lnSpc>
              <a:spcAft>
                <a:spcPts val="400"/>
              </a:spcAft>
              <a:buNone/>
            </a:pPr>
            <a:r>
              <a:rPr lang="en-US" sz="2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USB drive = key + auth factor</a:t>
            </a:r>
          </a:p>
          <a:p>
            <a:pPr marL="0" indent="0" algn="l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85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Requirements 1 and 2 combined: the USB drive both contains the key and serves as the authentication factor.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10/20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Usage Scenarios (1/2)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11/20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604" y="1609652"/>
            <a:ext cx="10507541" cy="80306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Usage Scenarios (2/2)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12/20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551" y="2195674"/>
            <a:ext cx="10545647" cy="73543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Implementation: se_vault</a:t>
            </a:r>
          </a:p>
        </p:txBody>
      </p:sp>
      <p:sp>
        <p:nvSpPr>
          <p:cNvPr id="11" name="left"/>
          <p:cNvSpPr/>
          <p:nvPr/>
        </p:nvSpPr>
        <p:spPr>
          <a:xfrm>
            <a:off x="1095375" y="1900000"/>
            <a:ext cx="7700000" cy="550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520000" tIns="364000" rIns="520000" bIns="36400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Built on </a:t>
            </a:r>
            <a:r>
              <a:rPr lang="en-US" sz="1900" b="1" dirty="0" smtClean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file_vault</a:t>
            </a:r>
            <a:r>
              <a:rPr lang="en-US" sz="1900" b="1" baseline="30000" dirty="0" smtClean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r>
              <a:rPr lang="en-US" sz="1900" b="1" dirty="0" smtClean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(based on </a:t>
            </a:r>
            <a:r>
              <a:rPr lang="en-US" sz="1900" b="1" dirty="0" err="1" smtClean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Tresor</a:t>
            </a:r>
            <a:r>
              <a:rPr lang="en-US" sz="1900" b="1" dirty="0" smtClean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)</a:t>
            </a:r>
            <a:endParaRPr lang="en-US" sz="1900" b="1" dirty="0">
              <a:solidFill>
                <a:srgbClr val="1A1A1A"/>
              </a:solidFill>
              <a:latin typeface="Montserrat SemiBold" pitchFamily="34" charset="0"/>
              <a:ea typeface="Montserrat SemiBold" pitchFamily="34" charset="-122"/>
              <a:cs typeface="Montserrat SemiBold" pitchFamily="34" charset="-120"/>
            </a:endParaRPr>
          </a:p>
          <a:p>
            <a:pPr marL="380000" indent="-380000" algn="l">
              <a:lnSpc>
                <a:spcPts val="2150"/>
              </a:lnSpc>
              <a:spcAft>
                <a:spcPts val="20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Tresor: AES on 4K blocks, SHA-256 integrity, CoW atomicity</a:t>
            </a:r>
          </a:p>
          <a:p>
            <a:pPr marL="380000" indent="-380000" algn="l">
              <a:lnSpc>
                <a:spcPts val="215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file_vault: state orchestrator providing a secure FS session</a:t>
            </a:r>
          </a:p>
        </p:txBody>
      </p:sp>
      <p:sp>
        <p:nvSpPr>
          <p:cNvPr id="12" name="right"/>
          <p:cNvSpPr/>
          <p:nvPr/>
        </p:nvSpPr>
        <p:spPr>
          <a:xfrm>
            <a:off x="9395375" y="1900000"/>
            <a:ext cx="7754625" cy="550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520000" tIns="364000" rIns="520000" bIns="36400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1900" b="1" dirty="0" smtClean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Implemented se_vault</a:t>
            </a:r>
            <a:r>
              <a:rPr lang="en-US" sz="1900" b="1" baseline="30000" dirty="0" smtClean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r>
              <a:rPr lang="en-US" sz="1900" b="1" dirty="0" smtClean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 based on </a:t>
            </a:r>
            <a:r>
              <a:rPr lang="en-US" sz="1900" b="1" dirty="0" err="1" smtClean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file_vault</a:t>
            </a:r>
            <a:endParaRPr lang="en-US" sz="1900" b="1" dirty="0" smtClean="0">
              <a:solidFill>
                <a:srgbClr val="FFFFFF"/>
              </a:solidFill>
              <a:latin typeface="Montserrat SemiBold" pitchFamily="34" charset="0"/>
              <a:ea typeface="Montserrat SemiBold" pitchFamily="34" charset="-122"/>
              <a:cs typeface="Montserrat SemiBold" pitchFamily="34" charset="-120"/>
            </a:endParaRPr>
          </a:p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1900" b="1" dirty="0" smtClean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Changes:</a:t>
            </a:r>
            <a:endParaRPr lang="en-US" sz="1900" b="1" dirty="0">
              <a:solidFill>
                <a:srgbClr val="FFFFFF"/>
              </a:solidFill>
              <a:latin typeface="Montserrat SemiBold" pitchFamily="34" charset="0"/>
              <a:ea typeface="Montserrat SemiBold" pitchFamily="34" charset="-122"/>
              <a:cs typeface="Montserrat SemiBold" pitchFamily="34" charset="-120"/>
            </a:endParaRPr>
          </a:p>
          <a:p>
            <a:pPr marL="360000" indent="-360000" algn="l">
              <a:lnSpc>
                <a:spcPts val="2050"/>
              </a:lnSpc>
              <a:spcAft>
                <a:spcPts val="15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Headless operation</a:t>
            </a:r>
          </a:p>
          <a:p>
            <a:pPr marL="360000" indent="-360000" algn="l">
              <a:lnSpc>
                <a:spcPts val="2050"/>
              </a:lnSpc>
              <a:spcAft>
                <a:spcPts val="15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Passphrase replaced </a:t>
            </a:r>
            <a:r>
              <a:rPr lang="en-US" sz="1600" b="1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by USB key file</a:t>
            </a:r>
          </a:p>
          <a:p>
            <a:pPr marL="360000" indent="-360000" algn="l">
              <a:lnSpc>
                <a:spcPts val="2050"/>
              </a:lnSpc>
              <a:spcAft>
                <a:spcPts val="15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rump_fs/ext2 replaced by </a:t>
            </a:r>
            <a:r>
              <a:rPr lang="en-US" sz="1600" b="1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lwext4/ext4</a:t>
            </a:r>
          </a:p>
          <a:p>
            <a:pPr marL="360000" indent="-360000" algn="l">
              <a:lnSpc>
                <a:spcPts val="2050"/>
              </a:lnSpc>
              <a:spcAft>
                <a:spcPts val="15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Added </a:t>
            </a:r>
            <a:r>
              <a:rPr lang="en-US" sz="1600" b="1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fsck</a:t>
            </a:r>
            <a:r>
              <a:rPr lang="en-US" sz="16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 crash-recovery support</a:t>
            </a:r>
          </a:p>
          <a:p>
            <a:pPr marL="360000" indent="-360000" algn="l">
              <a:lnSpc>
                <a:spcPts val="2050"/>
              </a:lnSpc>
              <a:spcAft>
                <a:spcPts val="15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Direct block session (skip image file)</a:t>
            </a:r>
          </a:p>
          <a:p>
            <a:pPr marL="360000" indent="-360000" algn="l">
              <a:lnSpc>
                <a:spcPts val="2050"/>
              </a:lnSpc>
              <a:spcAft>
                <a:spcPts val="15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All block sizes standardized to 4K</a:t>
            </a:r>
          </a:p>
          <a:p>
            <a:pPr marL="360000" indent="-360000" algn="l">
              <a:lnSpc>
                <a:spcPts val="205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Graceful shutdown sequence added</a:t>
            </a:r>
          </a:p>
        </p:txBody>
      </p:sp>
      <p:sp>
        <p:nvSpPr>
          <p:cNvPr id="80" name="footnotes"/>
          <p:cNvSpPr/>
          <p:nvPr/>
        </p:nvSpPr>
        <p:spPr>
          <a:xfrm>
            <a:off x="1095375" y="9110000"/>
            <a:ext cx="13500000" cy="84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>
              <a:lnSpc>
                <a:spcPts val="1500"/>
              </a:lnSpc>
              <a:spcAft>
                <a:spcPts val="60"/>
              </a:spcAft>
            </a:pPr>
            <a:r>
              <a:rPr lang="en-US" sz="1600" b="1" baseline="30000" dirty="0" smtClean="0">
                <a:solidFill>
                  <a:srgbClr val="9AA3AB"/>
                </a:solidFill>
                <a:latin typeface="IBM Plex Sans Medium" pitchFamily="34" charset="0"/>
                <a:cs typeface="IBM Plex Sans Medium" pitchFamily="34" charset="0"/>
              </a:rPr>
              <a:t>21</a:t>
            </a:r>
            <a:r>
              <a:rPr lang="en-US" sz="1600" dirty="0" smtClean="0">
                <a:solidFill>
                  <a:srgbClr val="9AA3AB"/>
                </a:solidFill>
                <a:latin typeface="IBM Plex Sans Regular" pitchFamily="34" charset="0"/>
                <a:cs typeface="IBM Plex Sans Regular" pitchFamily="34" charset="0"/>
              </a:rPr>
              <a:t>https</a:t>
            </a:r>
            <a:r>
              <a:rPr lang="en-US" sz="1600" dirty="0">
                <a:solidFill>
                  <a:srgbClr val="9AA3AB"/>
                </a:solidFill>
                <a:latin typeface="IBM Plex Sans Regular" pitchFamily="34" charset="0"/>
                <a:cs typeface="IBM Plex Sans Regular" pitchFamily="34" charset="0"/>
              </a:rPr>
              <a:t>://github.com/genodelabs/genode/tree/sculpt-25.04/repos/gems/src/app/file_vault</a:t>
            </a:r>
          </a:p>
          <a:p>
            <a:pPr marL="0" indent="0" algn="l">
              <a:lnSpc>
                <a:spcPts val="1500"/>
              </a:lnSpc>
              <a:spcAft>
                <a:spcPts val="60"/>
              </a:spcAft>
              <a:buNone/>
            </a:pPr>
            <a:r>
              <a:rPr lang="en-US" sz="1600" b="1" baseline="30000" dirty="0" smtClean="0">
                <a:solidFill>
                  <a:srgbClr val="9AA3AB"/>
                </a:solidFill>
                <a:latin typeface="IBM Plex Sans Medium" pitchFamily="34" charset="0"/>
                <a:cs typeface="IBM Plex Sans Medium" pitchFamily="34" charset="0"/>
              </a:rPr>
              <a:t>2 </a:t>
            </a:r>
            <a:r>
              <a:rPr lang="en-US" sz="1600" dirty="0">
                <a:solidFill>
                  <a:srgbClr val="9AA3AB"/>
                </a:solidFill>
                <a:latin typeface="IBM Plex Sans Regular" pitchFamily="34" charset="0"/>
                <a:cs typeface="IBM Plex Sans Regular" pitchFamily="34" charset="0"/>
              </a:rPr>
              <a:t>https://</a:t>
            </a:r>
            <a:r>
              <a:rPr lang="en-US" sz="1600" dirty="0" smtClean="0">
                <a:solidFill>
                  <a:srgbClr val="9AA3AB"/>
                </a:solidFill>
                <a:latin typeface="IBM Plex Sans Regular" pitchFamily="34" charset="0"/>
                <a:cs typeface="IBM Plex Sans Regular" pitchFamily="34" charset="0"/>
              </a:rPr>
              <a:t>github.com/VoronM1522/genode/tree/se/repos/gems/src/app/se_vault</a:t>
            </a:r>
            <a:endParaRPr lang="en-US" sz="1600" dirty="0">
              <a:solidFill>
                <a:srgbClr val="9AA3AB"/>
              </a:solidFill>
              <a:latin typeface="IBM Plex Sans Regular" pitchFamily="34" charset="0"/>
              <a:cs typeface="IBM Plex Sans Regular" pitchFamily="34" charset="0"/>
            </a:endParaRP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13/20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Related Fixes &amp; Adaptations</a:t>
            </a:r>
          </a:p>
        </p:txBody>
      </p:sp>
      <p:sp>
        <p:nvSpPr>
          <p:cNvPr id="20" name="card0"/>
          <p:cNvSpPr/>
          <p:nvPr/>
        </p:nvSpPr>
        <p:spPr>
          <a:xfrm>
            <a:off x="1095375" y="1900000"/>
            <a:ext cx="7675000" cy="20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480000" tIns="336000" rIns="480000" bIns="336000" rtlCol="0" anchor="ctr"/>
          <a:lstStyle/>
          <a:p>
            <a:pPr marL="0" indent="0" algn="l">
              <a:lnSpc>
                <a:spcPts val="2500"/>
              </a:lnSpc>
              <a:spcAft>
                <a:spcPts val="250"/>
              </a:spcAft>
              <a:buNone/>
            </a:pPr>
            <a:r>
              <a:rPr lang="en-US" sz="200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lwext4</a:t>
            </a:r>
          </a:p>
          <a:p>
            <a:pPr marL="0" indent="0" algn="l">
              <a:lnSpc>
                <a:spcPts val="2150"/>
              </a:lnSpc>
              <a:spcAft>
                <a:spcPts val="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ftruncate and sync</a:t>
            </a:r>
          </a:p>
        </p:txBody>
      </p:sp>
      <p:sp>
        <p:nvSpPr>
          <p:cNvPr id="21" name="card1"/>
          <p:cNvSpPr/>
          <p:nvPr/>
        </p:nvSpPr>
        <p:spPr>
          <a:xfrm>
            <a:off x="9470375" y="1900000"/>
            <a:ext cx="7675000" cy="20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480000" tIns="336000" rIns="480000" bIns="336000" rtlCol="0" anchor="ctr"/>
          <a:lstStyle/>
          <a:p>
            <a:pPr marL="0" indent="0" algn="l">
              <a:lnSpc>
                <a:spcPts val="2500"/>
              </a:lnSpc>
              <a:spcAft>
                <a:spcPts val="250"/>
              </a:spcAft>
              <a:buNone/>
            </a:pPr>
            <a:r>
              <a:rPr lang="en-US" sz="200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isomem</a:t>
            </a:r>
          </a:p>
          <a:p>
            <a:pPr marL="0" indent="0" algn="l">
              <a:lnSpc>
                <a:spcPts val="2150"/>
              </a:lnSpc>
              <a:spcAft>
                <a:spcPts val="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power-off button callback and graceful shutdown</a:t>
            </a:r>
          </a:p>
        </p:txBody>
      </p:sp>
      <p:sp>
        <p:nvSpPr>
          <p:cNvPr id="22" name="card2"/>
          <p:cNvSpPr/>
          <p:nvPr/>
        </p:nvSpPr>
        <p:spPr>
          <a:xfrm>
            <a:off x="1095375" y="4250000"/>
            <a:ext cx="7675000" cy="20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480000" tIns="336000" rIns="480000" bIns="336000" rtlCol="0" anchor="ctr"/>
          <a:lstStyle/>
          <a:p>
            <a:pPr marL="0" indent="0" algn="l">
              <a:lnSpc>
                <a:spcPts val="2500"/>
              </a:lnSpc>
              <a:spcAft>
                <a:spcPts val="250"/>
              </a:spcAft>
              <a:buNone/>
            </a:pPr>
            <a:r>
              <a:rPr lang="en-US" sz="200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snapper</a:t>
            </a:r>
          </a:p>
          <a:p>
            <a:pPr marL="0" indent="0" algn="l">
              <a:lnSpc>
                <a:spcPts val="2150"/>
              </a:lnSpc>
              <a:spcAft>
                <a:spcPts val="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client counter and graceful shutdown</a:t>
            </a:r>
          </a:p>
        </p:txBody>
      </p:sp>
      <p:sp>
        <p:nvSpPr>
          <p:cNvPr id="23" name="card3"/>
          <p:cNvSpPr/>
          <p:nvPr/>
        </p:nvSpPr>
        <p:spPr>
          <a:xfrm>
            <a:off x="9470375" y="4250000"/>
            <a:ext cx="7675000" cy="20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480000" tIns="336000" rIns="480000" bIns="336000" rtlCol="0" anchor="ctr"/>
          <a:lstStyle/>
          <a:p>
            <a:pPr marL="0" indent="0" algn="l">
              <a:lnSpc>
                <a:spcPts val="2500"/>
              </a:lnSpc>
              <a:spcAft>
                <a:spcPts val="250"/>
              </a:spcAft>
              <a:buNone/>
            </a:pPr>
            <a:r>
              <a:rPr lang="en-US" sz="200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vfs</a:t>
            </a:r>
          </a:p>
          <a:p>
            <a:pPr marL="0" indent="0" algn="l">
              <a:lnSpc>
                <a:spcPts val="2150"/>
              </a:lnSpc>
              <a:spcAft>
                <a:spcPts val="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client counter, graceful shutdown and clean unmount</a:t>
            </a:r>
          </a:p>
        </p:txBody>
      </p:sp>
      <p:sp>
        <p:nvSpPr>
          <p:cNvPr id="24" name="opt"/>
          <p:cNvSpPr/>
          <p:nvPr/>
        </p:nvSpPr>
        <p:spPr>
          <a:xfrm>
            <a:off x="1095375" y="6500000"/>
            <a:ext cx="16050000" cy="150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520000" tIns="364000" rIns="520000" bIns="364000" rtlCol="0" anchor="ctr"/>
          <a:lstStyle/>
          <a:p>
            <a:pPr>
              <a:lnSpc>
                <a:spcPts val="2400"/>
              </a:lnSpc>
            </a:pPr>
            <a:r>
              <a:rPr lang="en-US" sz="1900" b="1" dirty="0" smtClean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Optimization:</a:t>
            </a:r>
            <a:r>
              <a:rPr lang="en-US" sz="1850" dirty="0" smtClean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  </a:t>
            </a:r>
            <a:r>
              <a:rPr lang="en-US" sz="185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using a “Block” session directly — initialization time reduced from </a:t>
            </a:r>
            <a:r>
              <a:rPr lang="en-US" sz="1850" dirty="0" smtClean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≈20 </a:t>
            </a:r>
            <a:r>
              <a:rPr lang="en-US" sz="185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min to ≈1 min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14/20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</a:p>
        </p:txBody>
      </p:sp>
      <p:pic>
        <p:nvPicPr>
          <p:cNvPr id="30" name="im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43897" y="1600000"/>
            <a:ext cx="9751478" cy="8295300"/>
          </a:xfrm>
          <a:prstGeom prst="rect">
            <a:avLst/>
          </a:prstGeom>
        </p:spPr>
      </p:pic>
      <p:pic>
        <p:nvPicPr>
          <p:cNvPr id="90" name="iU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15/20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First Run Configuration</a:t>
            </a:r>
          </a:p>
        </p:txBody>
      </p:sp>
      <p:sp>
        <p:nvSpPr>
          <p:cNvPr id="10" name="lead"/>
          <p:cNvSpPr/>
          <p:nvPr/>
        </p:nvSpPr>
        <p:spPr>
          <a:xfrm>
            <a:off x="1095375" y="1900000"/>
            <a:ext cx="7700000" cy="615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620000" tIns="434000" rIns="620000" bIns="434000" rtlCol="0" anchor="ctr"/>
          <a:lstStyle/>
          <a:p>
            <a:pPr>
              <a:lnSpc>
                <a:spcPts val="2500"/>
              </a:lnSpc>
            </a:pPr>
            <a:r>
              <a:rPr lang="en-US" sz="1900" smtClean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</a:t>
            </a:r>
            <a:r>
              <a:rPr lang="en-US" sz="19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system was running on a Linux host inside a </a:t>
            </a:r>
            <a:r>
              <a:rPr lang="en-US" sz="1900" dirty="0" err="1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Podman</a:t>
            </a:r>
            <a:r>
              <a:rPr lang="en-US" sz="19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container. Virtualized using QEMU.</a:t>
            </a:r>
            <a:endParaRPr lang="en-US" sz="1900" dirty="0">
              <a:solidFill>
                <a:srgbClr val="FFFFFF"/>
              </a:solidFill>
              <a:latin typeface="IBM Plex Sans Medium" pitchFamily="34" charset="0"/>
              <a:ea typeface="IBM Plex Sans Medium" pitchFamily="34" charset="-122"/>
              <a:cs typeface="IBM Plex Sans Medium" pitchFamily="34" charset="-120"/>
            </a:endParaRPr>
          </a:p>
        </p:txBody>
      </p:sp>
      <p:sp>
        <p:nvSpPr>
          <p:cNvPr id="11" name="body"/>
          <p:cNvSpPr/>
          <p:nvPr/>
        </p:nvSpPr>
        <p:spPr>
          <a:xfrm>
            <a:off x="9100000" y="1900000"/>
            <a:ext cx="8050000" cy="61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560000" tIns="392000" rIns="560000" bIns="392000" rtlCol="0" anchor="ctr"/>
          <a:lstStyle/>
          <a:p>
            <a:pPr>
              <a:lnSpc>
                <a:spcPts val="2350"/>
              </a:lnSpc>
              <a:spcAft>
                <a:spcPts val="120"/>
              </a:spcAft>
            </a:pPr>
            <a:r>
              <a:rPr lang="en-US" sz="200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Environment features</a:t>
            </a:r>
          </a:p>
          <a:p>
            <a:pPr marL="0" indent="0" algn="l">
              <a:lnSpc>
                <a:spcPts val="2350"/>
              </a:lnSpc>
              <a:spcAft>
                <a:spcPts val="120"/>
              </a:spcAft>
              <a:buNone/>
            </a:pPr>
            <a:r>
              <a:rPr lang="en-US" sz="1850" dirty="0" smtClean="0">
                <a:latin typeface="Montserrat Medium" panose="00000600000000000000" pitchFamily="2" charset="-52"/>
                <a:ea typeface="Montserrat SemiBold" pitchFamily="34" charset="-122"/>
                <a:cs typeface="Montserrat SemiBold" pitchFamily="34" charset="-120"/>
              </a:rPr>
              <a:t>QEMU </a:t>
            </a:r>
            <a:r>
              <a:rPr lang="en-US" sz="1850" dirty="0">
                <a:latin typeface="Montserrat Medium" panose="00000600000000000000" pitchFamily="2" charset="-52"/>
                <a:ea typeface="Montserrat SemiBold" pitchFamily="34" charset="-122"/>
                <a:cs typeface="Montserrat SemiBold" pitchFamily="34" charset="-120"/>
              </a:rPr>
              <a:t>with -cpu host</a:t>
            </a:r>
          </a:p>
          <a:p>
            <a:pPr marL="0" indent="0" algn="l">
              <a:lnSpc>
                <a:spcPts val="2050"/>
              </a:lnSpc>
              <a:spcAft>
                <a:spcPts val="350"/>
              </a:spcAft>
              <a:buNone/>
            </a:pPr>
            <a:r>
              <a:rPr lang="en-US" sz="1650" i="1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AES/SHA hardware acceleration</a:t>
            </a:r>
          </a:p>
          <a:p>
            <a:pPr marL="0" indent="0" algn="l">
              <a:lnSpc>
                <a:spcPts val="2350"/>
              </a:lnSpc>
              <a:spcAft>
                <a:spcPts val="120"/>
              </a:spcAft>
              <a:buNone/>
            </a:pPr>
            <a:r>
              <a:rPr lang="en-US" sz="1850" dirty="0">
                <a:latin typeface="Montserrat Medium" panose="00000600000000000000" pitchFamily="2" charset="-52"/>
                <a:ea typeface="Montserrat SemiBold" pitchFamily="34" charset="-122"/>
                <a:cs typeface="Montserrat SemiBold" pitchFamily="34" charset="-120"/>
              </a:rPr>
              <a:t>NVMe controllers</a:t>
            </a:r>
          </a:p>
          <a:p>
            <a:pPr marL="0" indent="0" algn="l">
              <a:lnSpc>
                <a:spcPts val="2050"/>
              </a:lnSpc>
              <a:spcAft>
                <a:spcPts val="350"/>
              </a:spcAft>
              <a:buNone/>
            </a:pPr>
            <a:r>
              <a:rPr lang="en-US" sz="1650" i="1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virtual NVMe over PCIe</a:t>
            </a:r>
          </a:p>
          <a:p>
            <a:pPr marL="0" indent="0" algn="l">
              <a:lnSpc>
                <a:spcPts val="2350"/>
              </a:lnSpc>
              <a:spcAft>
                <a:spcPts val="120"/>
              </a:spcAft>
              <a:buNone/>
            </a:pPr>
            <a:r>
              <a:rPr lang="en-US" sz="1850" dirty="0">
                <a:latin typeface="Montserrat Medium" panose="00000600000000000000" pitchFamily="2" charset="-52"/>
                <a:ea typeface="Montserrat SemiBold" pitchFamily="34" charset="-122"/>
                <a:cs typeface="Montserrat SemiBold" pitchFamily="34" charset="-120"/>
              </a:rPr>
              <a:t>2 GB image</a:t>
            </a:r>
          </a:p>
          <a:p>
            <a:pPr marL="0" indent="0" algn="l">
              <a:lnSpc>
                <a:spcPts val="2050"/>
              </a:lnSpc>
              <a:spcAft>
                <a:spcPts val="350"/>
              </a:spcAft>
              <a:buNone/>
            </a:pPr>
            <a:r>
              <a:rPr lang="en-US" sz="1650" i="1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for isomem</a:t>
            </a:r>
          </a:p>
          <a:p>
            <a:pPr marL="0" indent="0" algn="l">
              <a:lnSpc>
                <a:spcPts val="2350"/>
              </a:lnSpc>
              <a:spcAft>
                <a:spcPts val="120"/>
              </a:spcAft>
              <a:buNone/>
            </a:pPr>
            <a:r>
              <a:rPr lang="en-US" sz="1850" dirty="0">
                <a:latin typeface="Montserrat Medium" panose="00000600000000000000" pitchFamily="2" charset="-52"/>
                <a:ea typeface="Montserrat SemiBold" pitchFamily="34" charset="-122"/>
                <a:cs typeface="Montserrat SemiBold" pitchFamily="34" charset="-120"/>
              </a:rPr>
              <a:t>5 GB image</a:t>
            </a:r>
          </a:p>
          <a:p>
            <a:pPr marL="0" indent="0" algn="l">
              <a:lnSpc>
                <a:spcPts val="2050"/>
              </a:lnSpc>
              <a:spcAft>
                <a:spcPts val="350"/>
              </a:spcAft>
              <a:buNone/>
            </a:pPr>
            <a:r>
              <a:rPr lang="en-US" sz="1650" i="1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for se_vault (4 GB user FS)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16/20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Functional Testing</a:t>
            </a:r>
          </a:p>
        </p:txBody>
      </p:sp>
      <p:sp>
        <p:nvSpPr>
          <p:cNvPr id="10" name="banner"/>
          <p:cNvSpPr/>
          <p:nvPr/>
        </p:nvSpPr>
        <p:spPr>
          <a:xfrm>
            <a:off x="1095375" y="1850000"/>
            <a:ext cx="16050000" cy="95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520000" tIns="364000" rIns="520000" bIns="364000" rtlCol="0" anchor="ctr"/>
          <a:lstStyle/>
          <a:p>
            <a:pPr marL="0" indent="0" algn="l">
              <a:lnSpc>
                <a:spcPts val="2600"/>
              </a:lnSpc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Functional tests — all passed</a:t>
            </a:r>
          </a:p>
        </p:txBody>
      </p:sp>
      <p:sp>
        <p:nvSpPr>
          <p:cNvPr id="20" name="t0"/>
          <p:cNvSpPr/>
          <p:nvPr/>
        </p:nvSpPr>
        <p:spPr>
          <a:xfrm>
            <a:off x="1095375" y="3150000"/>
            <a:ext cx="7675000" cy="20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520000" tIns="364000" rIns="520000" bIns="364000" rtlCol="0" anchor="ctr"/>
          <a:lstStyle/>
          <a:p>
            <a:pPr marL="0" indent="0" algn="l">
              <a:lnSpc>
                <a:spcPts val="2300"/>
              </a:lnSpc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E8B1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✓  </a:t>
            </a:r>
            <a:r>
              <a:rPr lang="en-US" sz="18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Normal boot / shutdown / restore cycle</a:t>
            </a:r>
          </a:p>
        </p:txBody>
      </p:sp>
      <p:sp>
        <p:nvSpPr>
          <p:cNvPr id="21" name="t1"/>
          <p:cNvSpPr/>
          <p:nvPr/>
        </p:nvSpPr>
        <p:spPr>
          <a:xfrm>
            <a:off x="9470375" y="3150000"/>
            <a:ext cx="7675000" cy="20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520000" tIns="364000" rIns="520000" bIns="364000" rtlCol="0" anchor="ctr"/>
          <a:lstStyle/>
          <a:p>
            <a:pPr marL="0" indent="0" algn="l">
              <a:lnSpc>
                <a:spcPts val="2300"/>
              </a:lnSpc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E8B1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✓  </a:t>
            </a:r>
            <a:r>
              <a:rPr lang="en-US" sz="18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Encrypted image cannot be mounted without key</a:t>
            </a:r>
          </a:p>
        </p:txBody>
      </p:sp>
      <p:sp>
        <p:nvSpPr>
          <p:cNvPr id="22" name="t2"/>
          <p:cNvSpPr/>
          <p:nvPr/>
        </p:nvSpPr>
        <p:spPr>
          <a:xfrm>
            <a:off x="1095375" y="5800000"/>
            <a:ext cx="7675000" cy="20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520000" tIns="364000" rIns="520000" bIns="364000" rtlCol="0" anchor="ctr"/>
          <a:lstStyle/>
          <a:p>
            <a:pPr marL="0" indent="0" algn="l">
              <a:lnSpc>
                <a:spcPts val="2300"/>
              </a:lnSpc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E8B1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✓  </a:t>
            </a:r>
            <a:r>
              <a:rPr lang="en-US" sz="18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Key/hash replacement attack — superblock not detected</a:t>
            </a:r>
          </a:p>
        </p:txBody>
      </p:sp>
      <p:sp>
        <p:nvSpPr>
          <p:cNvPr id="23" name="t3"/>
          <p:cNvSpPr/>
          <p:nvPr/>
        </p:nvSpPr>
        <p:spPr>
          <a:xfrm>
            <a:off x="9470375" y="5800000"/>
            <a:ext cx="7675000" cy="20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520000" tIns="364000" rIns="520000" bIns="364000" rtlCol="0" anchor="ctr"/>
          <a:lstStyle/>
          <a:p>
            <a:pPr marL="0" indent="0" algn="l">
              <a:lnSpc>
                <a:spcPts val="2300"/>
              </a:lnSpc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E8B1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✓  </a:t>
            </a:r>
            <a:r>
              <a:rPr lang="en-US" sz="18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Crash recovery via </a:t>
            </a:r>
            <a:r>
              <a:rPr lang="en-US" sz="1800" i="1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fsck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17/20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Performance Testing</a:t>
            </a:r>
          </a:p>
        </p:txBody>
      </p:sp>
      <p:sp>
        <p:nvSpPr>
          <p:cNvPr id="6" name="method"/>
          <p:cNvSpPr/>
          <p:nvPr/>
        </p:nvSpPr>
        <p:spPr>
          <a:xfrm>
            <a:off x="1095375" y="1750000"/>
            <a:ext cx="1605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spcAft>
                <a:spcPts val="0"/>
              </a:spcAft>
              <a:buNone/>
            </a:pPr>
            <a:r>
              <a:rPr lang="en-US" sz="1750" b="1" dirty="0">
                <a:solidFill>
                  <a:srgbClr val="2E8B1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Methodology: </a:t>
            </a:r>
            <a:r>
              <a:rPr lang="en-US" sz="175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first snapshot creation and reboot with restore, 5 runs each.</a:t>
            </a:r>
          </a:p>
        </p:txBody>
      </p:sp>
      <p:sp>
        <p:nvSpPr>
          <p:cNvPr id="7" name="s1"/>
          <p:cNvSpPr/>
          <p:nvPr/>
        </p:nvSpPr>
        <p:spPr>
          <a:xfrm>
            <a:off x="1095375" y="2650000"/>
            <a:ext cx="5000000" cy="260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480000" tIns="336000" rIns="480000" bIns="336000" rtlCol="0" anchor="ctr"/>
          <a:lstStyle/>
          <a:p>
            <a:pPr marL="0" indent="0" algn="l">
              <a:lnSpc>
                <a:spcPts val="5400"/>
              </a:lnSpc>
              <a:spcAft>
                <a:spcPts val="200"/>
              </a:spcAft>
              <a:buNone/>
            </a:pPr>
            <a:r>
              <a:rPr lang="en-US" sz="5400" b="1" dirty="0">
                <a:solidFill>
                  <a:srgbClr val="40BA2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≈ 24×</a:t>
            </a:r>
          </a:p>
          <a:p>
            <a:pPr marL="0" indent="0" algn="l">
              <a:lnSpc>
                <a:spcPts val="2050"/>
              </a:lnSpc>
              <a:spcAft>
                <a:spcPts val="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snapshot creation overhead</a:t>
            </a:r>
          </a:p>
        </p:txBody>
      </p:sp>
      <p:sp>
        <p:nvSpPr>
          <p:cNvPr id="8" name="s2"/>
          <p:cNvSpPr/>
          <p:nvPr/>
        </p:nvSpPr>
        <p:spPr>
          <a:xfrm>
            <a:off x="6400000" y="2650000"/>
            <a:ext cx="5000000" cy="260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480000" tIns="336000" rIns="480000" bIns="336000" rtlCol="0" anchor="ctr"/>
          <a:lstStyle/>
          <a:p>
            <a:pPr marL="0" indent="0" algn="l">
              <a:lnSpc>
                <a:spcPts val="5400"/>
              </a:lnSpc>
              <a:spcAft>
                <a:spcPts val="200"/>
              </a:spcAft>
              <a:buNone/>
            </a:pPr>
            <a:r>
              <a:rPr lang="en-US" sz="5400" b="1" dirty="0">
                <a:solidFill>
                  <a:srgbClr val="40BA2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≈ 11×</a:t>
            </a:r>
          </a:p>
          <a:p>
            <a:pPr marL="0" indent="0" algn="l">
              <a:lnSpc>
                <a:spcPts val="2050"/>
              </a:lnSpc>
              <a:spcAft>
                <a:spcPts val="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snapshot restore overhead</a:t>
            </a:r>
          </a:p>
        </p:txBody>
      </p:sp>
      <p:sp>
        <p:nvSpPr>
          <p:cNvPr id="9" name="cause"/>
          <p:cNvSpPr/>
          <p:nvPr/>
        </p:nvSpPr>
        <p:spPr>
          <a:xfrm>
            <a:off x="11700000" y="2650000"/>
            <a:ext cx="5450000" cy="260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520000" tIns="364000" rIns="520000" bIns="364000" rtlCol="0" anchor="ctr"/>
          <a:lstStyle/>
          <a:p>
            <a:pPr marL="0" indent="0" algn="l">
              <a:lnSpc>
                <a:spcPts val="2400"/>
              </a:lnSpc>
              <a:spcAft>
                <a:spcPts val="25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Root cause</a:t>
            </a:r>
          </a:p>
          <a:p>
            <a:pPr marL="0" indent="0" algn="l">
              <a:lnSpc>
                <a:spcPts val="23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Known Tresor limitation — no multithreading optimization.</a:t>
            </a:r>
          </a:p>
        </p:txBody>
      </p:sp>
      <p:graphicFrame>
        <p:nvGraphicFramePr>
          <p:cNvPr id="15" name="perf table"/>
          <p:cNvGraphicFramePr/>
          <p:nvPr/>
        </p:nvGraphicFramePr>
        <p:xfrm>
          <a:off x="1095375" y="5650000"/>
          <a:ext cx="16050000" cy="2100000"/>
        </p:xfrm>
        <a:graphic>
          <a:graphicData uri="http://schemas.openxmlformats.org/drawingml/2006/table">
            <a:tbl>
              <a:tblPr firstRow="1" bandRow="1"/>
              <a:tblGrid>
                <a:gridCol w="6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cs typeface="Montserrat SemiBold" pitchFamily="34" charset="0"/>
                        </a:rPr>
                        <a:t>Operation</a:t>
                      </a:r>
                    </a:p>
                  </a:txBody>
                  <a:tcPr marL="120000" marR="120000" marT="80000" marB="80000" anchor="ctr">
                    <a:solidFill>
                      <a:srgbClr val="40BA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cs typeface="Montserrat SemiBold" pitchFamily="34" charset="0"/>
                        </a:rPr>
                        <a:t>Without enc.</a:t>
                      </a:r>
                    </a:p>
                  </a:txBody>
                  <a:tcPr marL="120000" marR="120000" marT="80000" marB="80000" anchor="ctr">
                    <a:solidFill>
                      <a:srgbClr val="40BA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cs typeface="Montserrat SemiBold" pitchFamily="34" charset="0"/>
                        </a:rPr>
                        <a:t>With enc.</a:t>
                      </a:r>
                    </a:p>
                  </a:txBody>
                  <a:tcPr marL="120000" marR="120000" marT="80000" marB="80000" anchor="ctr">
                    <a:solidFill>
                      <a:srgbClr val="40BA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cs typeface="Montserrat SemiBold" pitchFamily="34" charset="0"/>
                        </a:rPr>
                        <a:t>Overhead</a:t>
                      </a:r>
                    </a:p>
                  </a:txBody>
                  <a:tcPr marL="120000" marR="120000" marT="80000" marB="80000" anchor="ctr">
                    <a:solidFill>
                      <a:srgbClr val="40B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solidFill>
                            <a:srgbClr val="1A1A1A"/>
                          </a:solidFill>
                          <a:latin typeface="IBM Plex Sans Regular" pitchFamily="34" charset="0"/>
                          <a:cs typeface="IBM Plex Sans Regular" pitchFamily="34" charset="0"/>
                        </a:rPr>
                        <a:t>Snapshot creation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rgbClr val="1A1A1A"/>
                          </a:solidFill>
                          <a:latin typeface="IBM Plex Mono" pitchFamily="34" charset="0"/>
                          <a:cs typeface="IBM Plex Mono" pitchFamily="34" charset="0"/>
                        </a:rPr>
                        <a:t>2.10 s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rgbClr val="1A1A1A"/>
                          </a:solidFill>
                          <a:latin typeface="IBM Plex Mono" pitchFamily="34" charset="0"/>
                          <a:cs typeface="IBM Plex Mono" pitchFamily="34" charset="0"/>
                        </a:rPr>
                        <a:t>51.00 s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2E8B16"/>
                          </a:solidFill>
                          <a:latin typeface="Montserrat SemiBold" pitchFamily="34" charset="0"/>
                          <a:cs typeface="Montserrat SemiBold" pitchFamily="34" charset="0"/>
                        </a:rPr>
                        <a:t>≈ 24×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solidFill>
                            <a:srgbClr val="1A1A1A"/>
                          </a:solidFill>
                          <a:latin typeface="IBM Plex Sans Regular" pitchFamily="34" charset="0"/>
                          <a:cs typeface="IBM Plex Sans Regular" pitchFamily="34" charset="0"/>
                        </a:rPr>
                        <a:t>Snapshot restore</a:t>
                      </a:r>
                    </a:p>
                  </a:txBody>
                  <a:tcPr marL="120000" marR="120000" marT="80000" marB="8000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rgbClr val="1A1A1A"/>
                          </a:solidFill>
                          <a:latin typeface="IBM Plex Mono" pitchFamily="34" charset="0"/>
                          <a:cs typeface="IBM Plex Mono" pitchFamily="34" charset="0"/>
                        </a:rPr>
                        <a:t>2.50 s</a:t>
                      </a:r>
                    </a:p>
                  </a:txBody>
                  <a:tcPr marL="120000" marR="120000" marT="80000" marB="8000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rgbClr val="1A1A1A"/>
                          </a:solidFill>
                          <a:latin typeface="IBM Plex Mono" pitchFamily="34" charset="0"/>
                          <a:cs typeface="IBM Plex Mono" pitchFamily="34" charset="0"/>
                        </a:rPr>
                        <a:t>27.30 s</a:t>
                      </a:r>
                    </a:p>
                  </a:txBody>
                  <a:tcPr marL="120000" marR="120000" marT="80000" marB="8000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2E8B16"/>
                          </a:solidFill>
                          <a:latin typeface="Montserrat SemiBold" pitchFamily="34" charset="0"/>
                          <a:cs typeface="Montserrat SemiBold" pitchFamily="34" charset="0"/>
                        </a:rPr>
                        <a:t>≈ 11×</a:t>
                      </a:r>
                    </a:p>
                  </a:txBody>
                  <a:tcPr marL="120000" marR="120000" marT="80000" marB="80000" anchor="ctr"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foot"/>
          <p:cNvSpPr/>
          <p:nvPr/>
        </p:nvSpPr>
        <p:spPr>
          <a:xfrm>
            <a:off x="1095375" y="7800000"/>
            <a:ext cx="1605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9AA3AB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Results are not statistically </a:t>
            </a:r>
            <a:r>
              <a:rPr lang="en-US" sz="1500" dirty="0" smtClean="0">
                <a:solidFill>
                  <a:srgbClr val="9AA3AB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confirmed.</a:t>
            </a:r>
            <a:endParaRPr lang="en-US" sz="1500" dirty="0">
              <a:solidFill>
                <a:srgbClr val="9AA3AB"/>
              </a:solidFill>
              <a:latin typeface="IBM Plex Sans Regular" pitchFamily="34" charset="0"/>
              <a:ea typeface="IBM Plex Sans Regular" pitchFamily="34" charset="-122"/>
              <a:cs typeface="IBM Plex Sans Regular" pitchFamily="34" charset="-120"/>
            </a:endParaRP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18/20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1095375" y="900000"/>
            <a:ext cx="13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Evaluation</a:t>
            </a:r>
          </a:p>
        </p:txBody>
      </p:sp>
      <p:sp>
        <p:nvSpPr>
          <p:cNvPr id="10" name="banner"/>
          <p:cNvSpPr/>
          <p:nvPr/>
        </p:nvSpPr>
        <p:spPr>
          <a:xfrm>
            <a:off x="1095375" y="1850000"/>
            <a:ext cx="16050000" cy="95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520000" tIns="364000" rIns="520000" bIns="364000" rtlCol="0" anchor="ctr"/>
          <a:lstStyle/>
          <a:p>
            <a:pPr marL="0" indent="0" algn="l">
              <a:lnSpc>
                <a:spcPts val="27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 of 5 requirements met</a:t>
            </a:r>
          </a:p>
        </p:txBody>
      </p:sp>
      <p:sp>
        <p:nvSpPr>
          <p:cNvPr id="11" name="list"/>
          <p:cNvSpPr/>
          <p:nvPr/>
        </p:nvSpPr>
        <p:spPr>
          <a:xfrm>
            <a:off x="1095375" y="3050000"/>
            <a:ext cx="9700000" cy="4950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 wrap="square" lIns="580000" tIns="406000" rIns="580000" bIns="406000" rtlCol="0" anchor="ctr"/>
          <a:lstStyle/>
          <a:p>
            <a:pPr marL="0" indent="0" algn="l">
              <a:lnSpc>
                <a:spcPts val="2550"/>
              </a:lnSpc>
              <a:spcAft>
                <a:spcPts val="260"/>
              </a:spcAft>
              <a:buNone/>
            </a:pPr>
            <a:r>
              <a:rPr lang="en-US" sz="2100" b="1" dirty="0">
                <a:solidFill>
                  <a:srgbClr val="2E8B1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✓  </a:t>
            </a:r>
            <a:r>
              <a:rPr lang="en-US" sz="19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Mandatory authorization (USB key)</a:t>
            </a:r>
          </a:p>
          <a:p>
            <a:pPr marL="0" indent="0" algn="l">
              <a:lnSpc>
                <a:spcPts val="2550"/>
              </a:lnSpc>
              <a:spcAft>
                <a:spcPts val="260"/>
              </a:spcAft>
              <a:buNone/>
            </a:pPr>
            <a:r>
              <a:rPr lang="en-US" sz="2100" b="1" dirty="0">
                <a:solidFill>
                  <a:srgbClr val="2E8B1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✓  </a:t>
            </a:r>
            <a:r>
              <a:rPr lang="en-US" sz="19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Key on external medium</a:t>
            </a:r>
          </a:p>
          <a:p>
            <a:pPr marL="0" indent="0" algn="l">
              <a:lnSpc>
                <a:spcPts val="2550"/>
              </a:lnSpc>
              <a:spcAft>
                <a:spcPts val="260"/>
              </a:spcAft>
              <a:buNone/>
            </a:pPr>
            <a:r>
              <a:rPr lang="en-US" sz="2100" b="1" dirty="0">
                <a:solidFill>
                  <a:srgbClr val="2E8B1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✓  </a:t>
            </a:r>
            <a:r>
              <a:rPr lang="en-US" sz="19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AES block-level encryption</a:t>
            </a:r>
          </a:p>
          <a:p>
            <a:pPr marL="0" indent="0" algn="l">
              <a:lnSpc>
                <a:spcPts val="2550"/>
              </a:lnSpc>
              <a:spcAft>
                <a:spcPts val="260"/>
              </a:spcAft>
              <a:buNone/>
            </a:pPr>
            <a:r>
              <a:rPr lang="en-US" sz="2100" b="1" dirty="0">
                <a:solidFill>
                  <a:srgbClr val="2E8B1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✓  </a:t>
            </a:r>
            <a:r>
              <a:rPr lang="en-US" sz="19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Only encrypted data on disk</a:t>
            </a:r>
          </a:p>
          <a:p>
            <a:pPr marL="0" indent="0" algn="l">
              <a:lnSpc>
                <a:spcPts val="2550"/>
              </a:lnSpc>
              <a:spcAft>
                <a:spcPts val="260"/>
              </a:spcAft>
              <a:buNone/>
            </a:pPr>
            <a:r>
              <a:rPr lang="en-US" sz="2100" b="1" dirty="0">
                <a:solidFill>
                  <a:srgbClr val="E8401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✗  </a:t>
            </a:r>
            <a:r>
              <a:rPr lang="en-US" sz="1900" dirty="0">
                <a:solidFill>
                  <a:srgbClr val="1A1A1A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Overhead ≤ 2× (Tresor limitation)</a:t>
            </a:r>
          </a:p>
        </p:txBody>
      </p:sp>
      <p:sp>
        <p:nvSpPr>
          <p:cNvPr id="12" name="note"/>
          <p:cNvSpPr/>
          <p:nvPr/>
        </p:nvSpPr>
        <p:spPr>
          <a:xfrm>
            <a:off x="11200000" y="3050000"/>
            <a:ext cx="5950000" cy="4950000"/>
          </a:xfrm>
          <a:prstGeom prst="roundRect">
            <a:avLst>
              <a:gd name="adj" fmla="val 6000"/>
            </a:avLst>
          </a:prstGeom>
          <a:solidFill>
            <a:srgbClr val="40BA21"/>
          </a:solidFill>
          <a:ln>
            <a:noFill/>
          </a:ln>
        </p:spPr>
        <p:txBody>
          <a:bodyPr wrap="square" lIns="620000" tIns="434000" rIns="620000" bIns="434000" rtlCol="0" anchor="ctr"/>
          <a:lstStyle/>
          <a:p>
            <a:pPr marL="0" indent="0" algn="l">
              <a:lnSpc>
                <a:spcPts val="2700"/>
              </a:lnSpc>
              <a:spcAft>
                <a:spcPts val="0"/>
              </a:spcAft>
              <a:buNone/>
            </a:pPr>
            <a:r>
              <a:rPr lang="en-US" sz="205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current overheads may be acceptable in certain scenarios.</a:t>
            </a:r>
          </a:p>
        </p:txBody>
      </p:sp>
      <p:pic>
        <p:nvPicPr>
          <p:cNvPr id="90" name="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00" y="780000"/>
            <a:ext cx="2480000" cy="720500"/>
          </a:xfrm>
          <a:prstGeom prst="rect">
            <a:avLst/>
          </a:prstGeom>
        </p:spPr>
      </p:pic>
      <p:sp>
        <p:nvSpPr>
          <p:cNvPr id="95" name="pagenum"/>
          <p:cNvSpPr/>
          <p:nvPr/>
        </p:nvSpPr>
        <p:spPr>
          <a:xfrm>
            <a:off x="16400000" y="9550000"/>
            <a:ext cx="1500000" cy="4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en-US" sz="1300" dirty="0">
                <a:solidFill>
                  <a:srgbClr val="9AA3AB"/>
                </a:solidFill>
                <a:latin typeface="IBM Plex Mono" pitchFamily="34" charset="0"/>
                <a:cs typeface="IBM Plex Mono" pitchFamily="34" charset="0"/>
              </a:rPr>
              <a:t>19/20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76750" y="0"/>
            <a:ext cx="1381125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371475"/>
            <a:ext cx="18288000" cy="9648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096625" y="4953000"/>
            <a:ext cx="4695825" cy="4686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8025" y="962025"/>
            <a:ext cx="3609975" cy="51149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5287625" y="3724275"/>
            <a:ext cx="3000375" cy="637222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057275" y="2050000"/>
            <a:ext cx="95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0"/>
              </a:lnSpc>
              <a:spcAft>
                <a:spcPts val="750"/>
              </a:spcAft>
              <a:buNone/>
            </a:pPr>
            <a:r>
              <a:rPr lang="en-US" sz="6000" b="1" dirty="0">
                <a:solidFill>
                  <a:srgbClr val="6FE34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r>
              <a:rPr dirty="0"/>
              <a:t/>
            </a:r>
            <a:br>
              <a:rPr dirty="0"/>
            </a:br>
            <a:endParaRPr lang="en-US" sz="6750" dirty="0"/>
          </a:p>
        </p:txBody>
      </p:sp>
      <p:sp>
        <p:nvSpPr>
          <p:cNvPr id="9" name="Text 1"/>
          <p:cNvSpPr/>
          <p:nvPr/>
        </p:nvSpPr>
        <p:spPr>
          <a:xfrm>
            <a:off x="1123950" y="3450000"/>
            <a:ext cx="13000000" cy="6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spcAft>
                <a:spcPts val="9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Developed se_vault based on file_vault</a:t>
            </a:r>
          </a:p>
          <a:p>
            <a:pPr marL="0" indent="0" algn="l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6FE3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Improvements</a:t>
            </a:r>
          </a:p>
          <a:p>
            <a:pPr marL="285750" indent="-285750" algn="l">
              <a:lnSpc>
                <a:spcPts val="2300"/>
              </a:lnSpc>
              <a:spcAft>
                <a:spcPts val="30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Security gain: snapshot encryption enabled</a:t>
            </a:r>
          </a:p>
          <a:p>
            <a:pPr marL="285750" indent="-285750" algn="l">
              <a:lnSpc>
                <a:spcPts val="23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Integrity gain: SHA-256 at block level (Tresor) and hash at FS level (Snapper)</a:t>
            </a:r>
          </a:p>
          <a:p>
            <a:pPr marL="0" indent="0" algn="l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6FE34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First security research specifically for PhantomOS</a:t>
            </a:r>
          </a:p>
          <a:p>
            <a:pPr marL="0" indent="0" algn="l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6FE3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Future work</a:t>
            </a:r>
          </a:p>
          <a:p>
            <a:pPr marL="285750" indent="-285750" algn="l">
              <a:lnSpc>
                <a:spcPts val="2300"/>
              </a:lnSpc>
              <a:spcAft>
                <a:spcPts val="30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Decrease performance overhead; encrypt the isomem block device</a:t>
            </a:r>
          </a:p>
          <a:p>
            <a:pPr marL="285750" indent="-285750" algn="l">
              <a:lnSpc>
                <a:spcPts val="23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 Regular" pitchFamily="34" charset="0"/>
                <a:ea typeface="IBM Plex Sans Regular" pitchFamily="34" charset="-122"/>
                <a:cs typeface="IBM Plex Sans Regular" pitchFamily="34" charset="-120"/>
              </a:rPr>
              <a:t>Merge Snapper and Tresor snapshot concepts; bring the PoC to industrial scale</a:t>
            </a:r>
            <a:endParaRPr lang="en-US" sz="17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C4E1B70-CBE0-49FE-829F-49682EFEE7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7156" y="1137191"/>
            <a:ext cx="3027200" cy="8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959</Words>
  <Application>Microsoft Office PowerPoint</Application>
  <PresentationFormat>Произвольный</PresentationFormat>
  <Paragraphs>186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9" baseType="lpstr">
      <vt:lpstr>Arial</vt:lpstr>
      <vt:lpstr>Calibri</vt:lpstr>
      <vt:lpstr>IBM Plex Mono</vt:lpstr>
      <vt:lpstr>IBM Plex Sans Medium</vt:lpstr>
      <vt:lpstr>IBM Plex Sans Regular</vt:lpstr>
      <vt:lpstr>Montserrat Bold</vt:lpstr>
      <vt:lpstr>Montserrat Medium</vt:lpstr>
      <vt:lpstr>Montserrat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 V</cp:lastModifiedBy>
  <cp:revision>20</cp:revision>
  <dcterms:created xsi:type="dcterms:W3CDTF">2023-04-25T07:56:21Z</dcterms:created>
  <dcterms:modified xsi:type="dcterms:W3CDTF">2026-06-14T10:59:53Z</dcterms:modified>
</cp:coreProperties>
</file>